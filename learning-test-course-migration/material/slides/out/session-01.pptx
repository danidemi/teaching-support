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extLst>
    <p:ext uri="{521415D9-36F7-43E2-AB2F-B90AF26B5E84}">
      <p14:sectionLst xmlns:p14="http://schemas.microsoft.com/office/powerpoint/2010/main">
        <p14:section name="Unit 1.1 — Deploy di un gateway minimo su GKE" id="{D64C367C-438E-5417-B9A2-186697446616}">
          <p14:sldIdLst>
            <p14:sldId id="257"/>
            <p14:sldId id="258"/>
            <p14:sldId id="259"/>
            <p14:sldId id="260"/>
            <p14:sldId id="261"/>
            <p14:sldId id="262"/>
            <p14:sldId id="263"/>
            <p14:sldId id="264"/>
            <p14:sldId id="265"/>
            <p14:sldId id="266"/>
          </p14:sldIdLst>
        </p14:section>
        <p14:section name="Unit 1.2 — Instradamento strangler-fig basato sul path" id="{F4B0D09E-F692-510F-B523-1B323B15152E}">
          <p14:sldIdLst>
            <p14:sldId id="267"/>
            <p14:sldId id="268"/>
            <p14:sldId id="269"/>
            <p14:sldId id="270"/>
            <p14:sldId id="271"/>
            <p14:sldId id="272"/>
            <p14:sldId id="273"/>
            <p14:sldId id="274"/>
            <p14:sldId id="275"/>
            <p14:sldId id="27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notesMaster" Target="notesMasters/notesMaster1.xml" /><Relationship Id="rId25" Type="http://schemas.openxmlformats.org/officeDocument/2006/relationships/viewProps" Target="viewProps.xml" /><Relationship Id="rId24" Type="http://schemas.openxmlformats.org/officeDocument/2006/relationships/presProps" Target="presProps.xml" /><Relationship Id="rId1" Type="http://schemas.openxmlformats.org/officeDocument/2006/relationships/slideMaster" Target="slideMasters/slideMaster1.xml" /><Relationship Id="rId27" Type="http://schemas.openxmlformats.org/officeDocument/2006/relationships/tableStyles" Target="tableStyles.xml" /><Relationship Id="rId26"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Tempo:</a:t>
            </a:r>
            <a:r>
              <a:rPr/>
              <a:t> ~6 min</a:t>
            </a:r>
          </a:p>
          <a:p>
            <a:pPr lvl="0" indent="0" marL="0">
              <a:buNone/>
            </a:pPr>
          </a:p>
          <a:p>
            <a:pPr lvl="0" indent="0" marL="0">
              <a:buNone/>
            </a:pPr>
            <a:r>
              <a:rPr b="1"/>
              <a:t>Da dire:</a:t>
            </a:r>
            <a:r>
              <a:rPr/>
              <a:t> Una frase per mestiere, dette in quest’ordine e senza approfondire: per chi sviluppa è un’applicazione Spring Boot containerizzata come le altre; per chi gestisce è un carico in più su un cluster che già amministra. Serve un vocabolario condiviso prima del laboratorio, altrimenti le due coppie useranno la stessa parola per cose diverse per tutto il giorno.</a:t>
            </a:r>
          </a:p>
          <a:p>
            <a:pPr lvl="0" indent="0" marL="0">
              <a:buNone/>
            </a:pPr>
          </a:p>
          <a:p>
            <a:pPr lvl="0" indent="0" marL="0">
              <a:buNone/>
            </a:pPr>
            <a:r>
              <a:rPr b="1"/>
              <a:t>Perché questa slide sta qui:</a:t>
            </a:r>
            <a:r>
              <a:rPr/>
              <a:t> Il curriculum assegna dieci minuti di vocabolario condiviso in apertura, prima di qualunque attività, perché la coorte è mista e nessuno dei due gruppi conosce Spring Cloud Gateway.</a:t>
            </a:r>
          </a:p>
          <a:p>
            <a:pPr lvl="0" indent="0" marL="0">
              <a:buNone/>
            </a:pPr>
          </a:p>
          <a:p>
            <a:pPr lvl="0" indent="0" marL="0">
              <a:buNone/>
            </a:pPr>
            <a:r>
              <a:rPr b="1"/>
              <a:t>Collegamenti:</a:t>
            </a:r>
            <a:r>
              <a:rPr/>
              <a:t> Prepara il compito concreto immediatamente successivo e i due rami di corsia. Il ramo legacy anticipa l’unità 1.2.</a:t>
            </a:r>
          </a:p>
          <a:p>
            <a:pPr lvl="0" indent="0" marL="0">
              <a:buNone/>
            </a:pPr>
          </a:p>
          <a:p>
            <a:pPr lvl="0" indent="0" marL="0">
              <a:buNone/>
            </a:pPr>
            <a:r>
              <a:rPr b="1"/>
              <a:t>Attenzione a:</a:t>
            </a:r>
            <a:r>
              <a:rPr/>
              <a:t> Non trasformarlo in un’introduzione all’architettura: qui non si spiega ancora nulla del funzionamento, si allinea solo il linguaggio.</a:t>
            </a:r>
          </a:p>
          <a:p>
            <a:pPr lvl="0" indent="0" marL="0">
              <a:buNone/>
            </a:pPr>
          </a:p>
          <a:p>
            <a:pPr lvl="0" indent="0" marL="0">
              <a:buNone/>
            </a:pPr>
            <a:r>
              <a:rPr b="1"/>
              <a:t>Obiettivi:</a:t>
            </a:r>
            <a:r>
              <a:rPr/>
              <a:t> G1</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Tempo:</a:t>
            </a:r>
            <a:r>
              <a:rPr/>
              <a:t> ~5 min</a:t>
            </a:r>
          </a:p>
          <a:p>
            <a:pPr lvl="0" indent="0" marL="0">
              <a:buNone/>
            </a:pPr>
          </a:p>
          <a:p>
            <a:pPr lvl="0" indent="0" marL="0">
              <a:buNone/>
            </a:pPr>
            <a:r>
              <a:rPr b="1"/>
              <a:t>Da dire:</a:t>
            </a:r>
            <a:r>
              <a:rPr/>
              <a:t> Presentare la situazione come un fatto, non come esercizio didattico: è esattamente il punto in cui si trova il progetto in azienda. Il vincolo del mese di scadenza rende questo il primo blocco da rimuovere. Non anticipare quali sono le cause tecniche: la domanda deve restare aperta fino al debriefing.</a:t>
            </a:r>
          </a:p>
          <a:p>
            <a:pPr lvl="0" indent="0" marL="0">
              <a:buNone/>
            </a:pPr>
          </a:p>
          <a:p>
            <a:pPr lvl="0" indent="0" marL="0">
              <a:buNone/>
            </a:pPr>
            <a:r>
              <a:rPr b="1"/>
              <a:t>Perché questa slide sta qui:</a:t>
            </a:r>
            <a:r>
              <a:rPr/>
              <a:t> Apre il ciclo esperienziale dell’unità con un problema riconoscibile dalla coorte, come richiesto dal metodo problem-first del curriculum.</a:t>
            </a:r>
          </a:p>
          <a:p>
            <a:pPr lvl="0" indent="0" marL="0">
              <a:buNone/>
            </a:pPr>
          </a:p>
          <a:p>
            <a:pPr lvl="0" indent="0" marL="0">
              <a:buNone/>
            </a:pPr>
            <a:r>
              <a:rPr b="1"/>
              <a:t>Collegamenti:</a:t>
            </a:r>
            <a:r>
              <a:rPr/>
              <a:t> È la ragione per cui l’obiettivo G1 viene prima di tutti gli altri: nulla di ciò che segue è verificabile su un gateway non raggiungibile.</a:t>
            </a:r>
          </a:p>
          <a:p>
            <a:pPr lvl="0" indent="0" marL="0">
              <a:buNone/>
            </a:pPr>
          </a:p>
          <a:p>
            <a:pPr lvl="0" indent="0" marL="0">
              <a:buNone/>
            </a:pPr>
            <a:r>
              <a:rPr b="1"/>
              <a:t>Attenzione a:</a:t>
            </a:r>
            <a:r>
              <a:rPr/>
              <a:t> La coppia ops salta volentieri alla soluzione perché il dominio le è familiare: raccogliere l’ipotesi e rimandarla al debriefing invece di discuterla adesso.</a:t>
            </a:r>
          </a:p>
          <a:p>
            <a:pPr lvl="0" indent="0" marL="0">
              <a:buNone/>
            </a:pPr>
          </a:p>
          <a:p>
            <a:pPr lvl="0" indent="0" marL="0">
              <a:buNone/>
            </a:pPr>
            <a:r>
              <a:rPr b="1"/>
              <a:t>Obiettivi:</a:t>
            </a:r>
            <a:r>
              <a:rPr/>
              <a:t> G1</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Tempo:</a:t>
            </a:r>
            <a:r>
              <a:rPr/>
              <a:t> ~4 min</a:t>
            </a:r>
          </a:p>
          <a:p>
            <a:pPr lvl="0" indent="0" marL="0">
              <a:buNone/>
            </a:pPr>
          </a:p>
          <a:p>
            <a:pPr lvl="0" indent="0" marL="0">
              <a:buNone/>
            </a:pPr>
            <a:r>
              <a:rPr b="1"/>
              <a:t>Da dire:</a:t>
            </a:r>
            <a:r>
              <a:rPr/>
              <a:t> Leggere la condizione di successo e far partire il timer, senza suggerire la strada. Il time box è parte dell’esercizio: serve a produrre un fallimento parziale su cui lavorare dopo, non a mettere pressione. Ricordare che i comandi stanno nella dispensa, non sulle slide.</a:t>
            </a:r>
          </a:p>
          <a:p>
            <a:pPr lvl="0" indent="0" marL="0">
              <a:buNone/>
            </a:pPr>
          </a:p>
          <a:p>
            <a:pPr lvl="0" indent="0" marL="0">
              <a:buNone/>
            </a:pPr>
            <a:r>
              <a:rPr b="1"/>
              <a:t>Perché questa slide sta qui:</a:t>
            </a:r>
            <a:r>
              <a:rPr/>
              <a:t> Esperienza concreta: il compito precede la spiegazione del modello di deploy.</a:t>
            </a:r>
          </a:p>
          <a:p>
            <a:pPr lvl="0" indent="0" marL="0">
              <a:buNone/>
            </a:pPr>
          </a:p>
          <a:p>
            <a:pPr lvl="0" indent="0" marL="0">
              <a:buNone/>
            </a:pPr>
            <a:r>
              <a:rPr b="1"/>
              <a:t>Collegamenti:</a:t>
            </a:r>
            <a:r>
              <a:rPr/>
              <a:t> Gli errori che emergono qui diventano il materiale del debriefing e vengono ripresi uno per uno nella parte teorica.</a:t>
            </a:r>
          </a:p>
          <a:p>
            <a:pPr lvl="0" indent="0" marL="0">
              <a:buNone/>
            </a:pPr>
          </a:p>
          <a:p>
            <a:pPr lvl="0" indent="0" marL="0">
              <a:buNone/>
            </a:pPr>
            <a:r>
              <a:rPr b="1"/>
              <a:t>Attenzione a:</a:t>
            </a:r>
            <a:r>
              <a:rPr/>
              <a:t> Verificare prima di partire che tutti abbiano accesso a gcloud e al cluster: il curriculum segnala questo controllo come rischio aperto, non confermato dal cliente. Senza accesso l’unità non ha pista di lancio.</a:t>
            </a:r>
          </a:p>
          <a:p>
            <a:pPr lvl="0" indent="0" marL="0">
              <a:buNone/>
            </a:pPr>
          </a:p>
          <a:p>
            <a:pPr lvl="0" indent="0" marL="0">
              <a:buNone/>
            </a:pPr>
            <a:r>
              <a:rPr b="1"/>
              <a:t>Obiettivi:</a:t>
            </a:r>
            <a:r>
              <a:rPr/>
              <a:t> G1</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Tempo:</a:t>
            </a:r>
            <a:r>
              <a:rPr/>
              <a:t> ~3 min</a:t>
            </a:r>
          </a:p>
          <a:p>
            <a:pPr lvl="0" indent="0" marL="0">
              <a:buNone/>
            </a:pPr>
          </a:p>
          <a:p>
            <a:pPr lvl="0" indent="0" marL="0">
              <a:buNone/>
            </a:pPr>
            <a:r>
              <a:rPr b="1"/>
              <a:t>Da dire:</a:t>
            </a:r>
            <a:r>
              <a:rPr/>
              <a:t> Assegnare i nomi ad alta voce, non lasciare che le coppie si autoassegnino: con quattro persone si sovrappongono sullo stesso passo. Insistere sul fatto che l’endpoint di salute non è un dettaglio, perché è il punto su cui si innesta la parte teorica successiva.</a:t>
            </a:r>
          </a:p>
          <a:p>
            <a:pPr lvl="0" indent="0" marL="0">
              <a:buNone/>
            </a:pPr>
          </a:p>
          <a:p>
            <a:pPr lvl="0" indent="0" marL="0">
              <a:buNone/>
            </a:pPr>
            <a:r>
              <a:rPr b="1"/>
              <a:t>Perché questa slide sta qui:</a:t>
            </a:r>
            <a:r>
              <a:rPr/>
              <a:t> Ferma la decomposizione dove il curriculum la ferma per questa coppia: Spring Boot è già patrimonio dei due sviluppatori e non viene rispiegato.</a:t>
            </a:r>
          </a:p>
          <a:p>
            <a:pPr lvl="0" indent="0" marL="0">
              <a:buNone/>
            </a:pPr>
          </a:p>
          <a:p>
            <a:pPr lvl="0" indent="0" marL="0">
              <a:buNone/>
            </a:pPr>
            <a:r>
              <a:rPr b="1"/>
              <a:t>Collegamenti:</a:t>
            </a:r>
            <a:r>
              <a:rPr/>
              <a:t> La consegna dell’immagine è il punto di incontro con la corsia ops e prepara la riconvergenza.</a:t>
            </a:r>
          </a:p>
          <a:p>
            <a:pPr lvl="0" indent="0" marL="0">
              <a:buNone/>
            </a:pPr>
          </a:p>
          <a:p>
            <a:pPr lvl="0" indent="0" marL="0">
              <a:buNone/>
            </a:pPr>
            <a:r>
              <a:rPr b="1"/>
              <a:t>Attenzione a:</a:t>
            </a:r>
            <a:r>
              <a:rPr/>
              <a:t> Rischio noia per chi si muove più veloce: chi finisce presto affianca la corsia ops sul cluster, non aggiunge funzionalità in autonomia.</a:t>
            </a:r>
          </a:p>
          <a:p>
            <a:pPr lvl="0" indent="0" marL="0">
              <a:buNone/>
            </a:pPr>
          </a:p>
          <a:p>
            <a:pPr lvl="0" indent="0" marL="0">
              <a:buNone/>
            </a:pPr>
            <a:r>
              <a:rPr b="1"/>
              <a:t>Obiettivi:</a:t>
            </a:r>
            <a:r>
              <a:rPr/>
              <a:t> G1</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Tempo:</a:t>
            </a:r>
            <a:r>
              <a:rPr/>
              <a:t> ~3 min</a:t>
            </a:r>
          </a:p>
          <a:p>
            <a:pPr lvl="0" indent="0" marL="0">
              <a:buNone/>
            </a:pPr>
          </a:p>
          <a:p>
            <a:pPr lvl="0" indent="0" marL="0">
              <a:buNone/>
            </a:pPr>
            <a:r>
              <a:rPr b="1"/>
              <a:t>Da dire:</a:t>
            </a:r>
            <a:r>
              <a:rPr/>
              <a:t> Qui il dominio è loro: non spiegare Kubernetes, chiedere di applicarlo. La sola cosa nuova è che il carico da esporre è un’applicazione Java, e la differenza pratica si vede sui tempi di avvio e quindi sulla probe.</a:t>
            </a:r>
          </a:p>
          <a:p>
            <a:pPr lvl="0" indent="0" marL="0">
              <a:buNone/>
            </a:pPr>
          </a:p>
          <a:p>
            <a:pPr lvl="0" indent="0" marL="0">
              <a:buNone/>
            </a:pPr>
            <a:r>
              <a:rPr b="1"/>
              <a:t>Perché questa slide sta qui:</a:t>
            </a:r>
            <a:r>
              <a:rPr/>
              <a:t> La decomposizione si ferma su Docker e GKE per questa coppia: sono competenze già dichiarate e il curriculum vieta di rispiegarle.</a:t>
            </a:r>
          </a:p>
          <a:p>
            <a:pPr lvl="0" indent="0" marL="0">
              <a:buNone/>
            </a:pPr>
          </a:p>
          <a:p>
            <a:pPr lvl="0" indent="0" marL="0">
              <a:buNone/>
            </a:pPr>
            <a:r>
              <a:rPr b="1"/>
              <a:t>Collegamenti:</a:t>
            </a:r>
            <a:r>
              <a:rPr/>
              <a:t> Nessun ramo scende fino a leggere o scrivere Java per questa corsia: tutto resta configurazione e comportamento osservato.</a:t>
            </a:r>
          </a:p>
          <a:p>
            <a:pPr lvl="0" indent="0" marL="0">
              <a:buNone/>
            </a:pPr>
          </a:p>
          <a:p>
            <a:pPr lvl="0" indent="0" marL="0">
              <a:buNone/>
            </a:pPr>
            <a:r>
              <a:rPr b="1"/>
              <a:t>Attenzione a:</a:t>
            </a:r>
            <a:r>
              <a:rPr/>
              <a:t> Il tempo di avvio di una JVM è più lungo di quello che questa coppia si aspetta da un container: è la causa più probabile di una probe che fallisce.</a:t>
            </a:r>
          </a:p>
          <a:p>
            <a:pPr lvl="0" indent="0" marL="0">
              <a:buNone/>
            </a:pPr>
          </a:p>
          <a:p>
            <a:pPr lvl="0" indent="0" marL="0">
              <a:buNone/>
            </a:pPr>
            <a:r>
              <a:rPr b="1"/>
              <a:t>Obiettivi:</a:t>
            </a:r>
            <a:r>
              <a:rPr/>
              <a:t> G1</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Tempo:</a:t>
            </a:r>
            <a:r>
              <a:rPr/>
              <a:t> ~10 min</a:t>
            </a:r>
          </a:p>
          <a:p>
            <a:pPr lvl="0" indent="0" marL="0">
              <a:buNone/>
            </a:pPr>
          </a:p>
          <a:p>
            <a:pPr lvl="0" indent="0" marL="0">
              <a:buNone/>
            </a:pPr>
            <a:r>
              <a:rPr b="1"/>
              <a:t>Da dire:</a:t>
            </a:r>
            <a:r>
              <a:rPr/>
              <a:t> Far parlare prima chi ha incontrato l’errore, non chi ha trovato la soluzione, e raccogliere le cause su una lavagna condivisa senza correggerle subito: servono intere come materiale per la parte teorica. Chiudere solo dopo che entrambe le corsie hanno confermato assieme che il gateway risponde.</a:t>
            </a:r>
          </a:p>
          <a:p>
            <a:pPr lvl="0" indent="0" marL="0">
              <a:buNone/>
            </a:pPr>
          </a:p>
          <a:p>
            <a:pPr lvl="0" indent="0" marL="0">
              <a:buNone/>
            </a:pPr>
            <a:r>
              <a:rPr b="1"/>
              <a:t>Perché questa slide sta qui:</a:t>
            </a:r>
            <a:r>
              <a:rPr/>
              <a:t> La riflessione è lo stadio che viene saltato più spesso ed è quello che trasforma l’attività in apprendimento: il curriculum la rende esplicita.</a:t>
            </a:r>
          </a:p>
          <a:p>
            <a:pPr lvl="0" indent="0" marL="0">
              <a:buNone/>
            </a:pPr>
          </a:p>
          <a:p>
            <a:pPr lvl="0" indent="0" marL="0">
              <a:buNone/>
            </a:pPr>
            <a:r>
              <a:rPr b="1"/>
              <a:t>Collegamenti:</a:t>
            </a:r>
            <a:r>
              <a:rPr/>
              <a:t> È anche il momento di riconvergenza fra le due corsie previsto dal curriculum, in cui la coppia ops fa da mentore sul divario specifico di GKE.</a:t>
            </a:r>
          </a:p>
          <a:p>
            <a:pPr lvl="0" indent="0" marL="0">
              <a:buNone/>
            </a:pPr>
          </a:p>
          <a:p>
            <a:pPr lvl="0" indent="0" marL="0">
              <a:buNone/>
            </a:pPr>
            <a:r>
              <a:rPr b="1"/>
              <a:t>Attenzione a:</a:t>
            </a:r>
            <a:r>
              <a:rPr/>
              <a:t> Se diventa una gara di soluzioni si perde il valore formativo: riportare le persone sulle cause e su come le hanno individuate.</a:t>
            </a:r>
          </a:p>
          <a:p>
            <a:pPr lvl="0" indent="0" marL="0">
              <a:buNone/>
            </a:pPr>
          </a:p>
          <a:p>
            <a:pPr lvl="0" indent="0" marL="0">
              <a:buNone/>
            </a:pPr>
            <a:r>
              <a:rPr b="1"/>
              <a:t>Obiettivi:</a:t>
            </a:r>
            <a:r>
              <a:rPr/>
              <a:t> G1</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Tempo:</a:t>
            </a:r>
            <a:r>
              <a:rPr/>
              <a:t> ~10 min</a:t>
            </a:r>
          </a:p>
          <a:p>
            <a:pPr lvl="0" indent="0" marL="0">
              <a:buNone/>
            </a:pPr>
          </a:p>
          <a:p>
            <a:pPr lvl="0" indent="0" marL="0">
              <a:buNone/>
            </a:pPr>
            <a:r>
              <a:rPr b="1"/>
              <a:t>Da dire:</a:t>
            </a:r>
            <a:r>
              <a:rPr/>
              <a:t> Percorrere il diagramma nell’ordine in cui viaggia la richiesta e fermarsi sul ramo negativo della probe: è lì che finiva la maggior parte degli errori raccolti alla lavagna pochi minuti prima. Collegare ogni nodo a un errore realmente visto, nominando chi lo ha incontrato: è la differenza fra una spiegazione e una spiegazione che risponde a qualcosa.</a:t>
            </a:r>
          </a:p>
          <a:p>
            <a:pPr lvl="0" indent="0" marL="0">
              <a:buNone/>
            </a:pPr>
          </a:p>
          <a:p>
            <a:pPr lvl="0" indent="0" marL="0">
              <a:buNone/>
            </a:pPr>
            <a:r>
              <a:rPr b="1"/>
              <a:t>Perché questa slide sta qui:</a:t>
            </a:r>
            <a:r>
              <a:rPr/>
              <a:t> Concettualizzazione astratta: arriva dopo l’esperienza e spiega ciò che i partecipanti hanno già osservato, mai prima.</a:t>
            </a:r>
          </a:p>
          <a:p>
            <a:pPr lvl="0" indent="0" marL="0">
              <a:buNone/>
            </a:pPr>
          </a:p>
          <a:p>
            <a:pPr lvl="0" indent="0" marL="0">
              <a:buNone/>
            </a:pPr>
            <a:r>
              <a:rPr b="1"/>
              <a:t>Collegamenti:</a:t>
            </a:r>
            <a:r>
              <a:rPr/>
              <a:t> Chiude gli errori del debriefing; il nodo del pod è il punto in cui si innesta l’exporter di tracciamento della slide successiva.</a:t>
            </a:r>
          </a:p>
          <a:p>
            <a:pPr lvl="0" indent="0" marL="0">
              <a:buNone/>
            </a:pPr>
          </a:p>
          <a:p>
            <a:pPr lvl="0" indent="0" marL="0">
              <a:buNone/>
            </a:pPr>
            <a:r>
              <a:rPr b="1"/>
              <a:t>Attenzione a:</a:t>
            </a:r>
            <a:r>
              <a:rPr/>
              <a:t> Per la corsia sviluppo il ramo “non pronta” è il meno intuitivo: dal loro punto di vista l’applicazione è partita, ma per il cluster non esiste ancora.</a:t>
            </a:r>
          </a:p>
          <a:p>
            <a:pPr lvl="0" indent="0" marL="0">
              <a:buNone/>
            </a:pPr>
          </a:p>
          <a:p>
            <a:pPr lvl="0" indent="0" marL="0">
              <a:buNone/>
            </a:pPr>
            <a:r>
              <a:rPr b="1"/>
              <a:t>Obiettivi:</a:t>
            </a:r>
            <a:r>
              <a:rPr/>
              <a:t> G1</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Tempo:</a:t>
            </a:r>
            <a:r>
              <a:rPr/>
              <a:t> ~5 min</a:t>
            </a:r>
          </a:p>
          <a:p>
            <a:pPr lvl="0" indent="0" marL="0">
              <a:buNone/>
            </a:pPr>
          </a:p>
          <a:p>
            <a:pPr lvl="0" indent="0" marL="0">
              <a:buNone/>
            </a:pPr>
            <a:r>
              <a:rPr b="1"/>
              <a:t>Da dire:</a:t>
            </a:r>
            <a:r>
              <a:rPr/>
              <a:t> Sottolineare che questa è configurazione e non codice, perché è ciò che rende il tracciamento accessibile anche a chi non scrive Java. Il campionamento a uno serve solo in aula: in produzione va abbassato, e conviene dirlo subito per non lasciare in giro un’idea sbagliata.</a:t>
            </a:r>
          </a:p>
          <a:p>
            <a:pPr lvl="0" indent="0" marL="0">
              <a:buNone/>
            </a:pPr>
          </a:p>
          <a:p>
            <a:pPr lvl="0" indent="0" marL="0">
              <a:buNone/>
            </a:pPr>
            <a:r>
              <a:rPr b="1"/>
              <a:t>Perché questa slide sta qui:</a:t>
            </a:r>
            <a:r>
              <a:rPr/>
              <a:t> Primo passaggio superficiale dell’obiettivo G5, che il curriculum distribuisce a spirale su entrambe le sessioni invece di concentrarlo in un blocco unico.</a:t>
            </a:r>
          </a:p>
          <a:p>
            <a:pPr lvl="0" indent="0" marL="0">
              <a:buNone/>
            </a:pPr>
          </a:p>
          <a:p>
            <a:pPr lvl="0" indent="0" marL="0">
              <a:buNone/>
            </a:pPr>
            <a:r>
              <a:rPr b="1"/>
              <a:t>Collegamenti:</a:t>
            </a:r>
            <a:r>
              <a:rPr/>
              <a:t> Il passaggio profondo arriva nell’unità 2.3, dove mancherà un salto di propagazione da ripristinare.</a:t>
            </a:r>
          </a:p>
          <a:p>
            <a:pPr lvl="0" indent="0" marL="0">
              <a:buNone/>
            </a:pPr>
          </a:p>
          <a:p>
            <a:pPr lvl="0" indent="0" marL="0">
              <a:buNone/>
            </a:pPr>
            <a:r>
              <a:rPr b="1"/>
              <a:t>Attenzione a:</a:t>
            </a:r>
            <a:r>
              <a:rPr/>
              <a:t> Non aprire qui il discorso sul formato del contesto di traccia: appartiene al secondo passaggio e qui ruberebbe tempo al laboratorio.</a:t>
            </a:r>
          </a:p>
          <a:p>
            <a:pPr lvl="0" indent="0" marL="0">
              <a:buNone/>
            </a:pPr>
          </a:p>
          <a:p>
            <a:pPr lvl="0" indent="0" marL="0">
              <a:buNone/>
            </a:pPr>
            <a:r>
              <a:rPr b="1"/>
              <a:t>Obiettivi:</a:t>
            </a:r>
            <a:r>
              <a:rPr/>
              <a:t> G5a</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Tempo:</a:t>
            </a:r>
            <a:r>
              <a:rPr/>
              <a:t> ~6 min</a:t>
            </a:r>
          </a:p>
          <a:p>
            <a:pPr lvl="0" indent="0" marL="0">
              <a:buNone/>
            </a:pPr>
          </a:p>
          <a:p>
            <a:pPr lvl="0" indent="0" marL="0">
              <a:buNone/>
            </a:pPr>
            <a:r>
              <a:rPr b="1"/>
              <a:t>Da dire:</a:t>
            </a:r>
            <a:r>
              <a:rPr/>
              <a:t> Chiedere una previsione prima di ridistribuire: cosa cambierà nella risposta e cosa comparirà nel collector? Poi applicare la modifica di configurazione e confrontare la previsione con il risultato. È il confronto, non la modifica, a consolidare il principio appena spiegato.</a:t>
            </a:r>
          </a:p>
          <a:p>
            <a:pPr lvl="0" indent="0" marL="0">
              <a:buNone/>
            </a:pPr>
          </a:p>
          <a:p>
            <a:pPr lvl="0" indent="0" marL="0">
              <a:buNone/>
            </a:pPr>
            <a:r>
              <a:rPr b="1"/>
              <a:t>Perché questa slide sta qui:</a:t>
            </a:r>
            <a:r>
              <a:rPr/>
              <a:t> Sperimentazione attiva sullo stesso ambiente a complessità leggermente maggiore, e prima osservazione diretta di una traccia da parte dei partecipanti.</a:t>
            </a:r>
          </a:p>
          <a:p>
            <a:pPr lvl="0" indent="0" marL="0">
              <a:buNone/>
            </a:pPr>
          </a:p>
          <a:p>
            <a:pPr lvl="0" indent="0" marL="0">
              <a:buNone/>
            </a:pPr>
            <a:r>
              <a:rPr b="1"/>
              <a:t>Collegamenti:</a:t>
            </a:r>
            <a:r>
              <a:rPr/>
              <a:t> Diventa l’esperienza concreta di apertura dell’unità 1.2: ora che qualcosa risponde, si può decidere dove mandare il traffico.</a:t>
            </a:r>
          </a:p>
          <a:p>
            <a:pPr lvl="0" indent="0" marL="0">
              <a:buNone/>
            </a:pPr>
          </a:p>
          <a:p>
            <a:pPr lvl="0" indent="0" marL="0">
              <a:buNone/>
            </a:pPr>
            <a:r>
              <a:rPr b="1"/>
              <a:t>Attenzione a:</a:t>
            </a:r>
            <a:r>
              <a:rPr/>
              <a:t> Deve essere la loro richiesta e la loro traccia, non una dimostrazione del docente: il curriculum lo chiede esplicitamente per l’obiettivo G5.</a:t>
            </a:r>
          </a:p>
          <a:p>
            <a:pPr lvl="0" indent="0" marL="0">
              <a:buNone/>
            </a:pPr>
          </a:p>
          <a:p>
            <a:pPr lvl="0" indent="0" marL="0">
              <a:buNone/>
            </a:pPr>
            <a:r>
              <a:rPr b="1"/>
              <a:t>Obiettivi:</a:t>
            </a:r>
            <a:r>
              <a:rPr/>
              <a:t> G1, G5a</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Tempo:</a:t>
            </a:r>
            <a:r>
              <a:rPr/>
              <a:t> ~5 min</a:t>
            </a:r>
          </a:p>
          <a:p>
            <a:pPr lvl="0" indent="0" marL="0">
              <a:buNone/>
            </a:pPr>
          </a:p>
          <a:p>
            <a:pPr lvl="0" indent="0" marL="0">
              <a:buNone/>
            </a:pPr>
            <a:r>
              <a:rPr b="1"/>
              <a:t>Da dire:</a:t>
            </a:r>
            <a:r>
              <a:rPr/>
              <a:t> Riprendere il gateway che risponde dalla fine dell’unità precedente e mostrare che risponde sempre alla stessa cosa: è inutile finché non discrimina. Questa è la regola dichiarata dal cliente, non una scelta didattica: lo split avviene per path.</a:t>
            </a:r>
          </a:p>
          <a:p>
            <a:pPr lvl="0" indent="0" marL="0">
              <a:buNone/>
            </a:pPr>
          </a:p>
          <a:p>
            <a:pPr lvl="0" indent="0" marL="0">
              <a:buNone/>
            </a:pPr>
            <a:r>
              <a:rPr b="1"/>
              <a:t>Perché questa slide sta qui:</a:t>
            </a:r>
            <a:r>
              <a:rPr/>
              <a:t> Apre l’unità con il compito successivo, nato dal risultato di quello precedente.</a:t>
            </a:r>
          </a:p>
          <a:p>
            <a:pPr lvl="0" indent="0" marL="0">
              <a:buNone/>
            </a:pPr>
          </a:p>
          <a:p>
            <a:pPr lvl="0" indent="0" marL="0">
              <a:buNone/>
            </a:pPr>
            <a:r>
              <a:rPr b="1"/>
              <a:t>Collegamenti:</a:t>
            </a:r>
            <a:r>
              <a:rPr/>
              <a:t> È il secondo passaggio della coppia deploy-instradamento che il curriculum tratta a spirale invece di imporre una precedenza artificiale.</a:t>
            </a:r>
          </a:p>
          <a:p>
            <a:pPr lvl="0" indent="0" marL="0">
              <a:buNone/>
            </a:pPr>
          </a:p>
          <a:p>
            <a:pPr lvl="0" indent="0" marL="0">
              <a:buNone/>
            </a:pPr>
            <a:r>
              <a:rPr b="1"/>
              <a:t>Attenzione a:</a:t>
            </a:r>
            <a:r>
              <a:rPr/>
              <a:t> Qualcuno proporrà di dividere per header o per sottodominio: sono alternative legittime ma il cliente ha fissato il path, e conviene dirlo apertamente.</a:t>
            </a:r>
          </a:p>
          <a:p>
            <a:pPr lvl="0" indent="0" marL="0">
              <a:buNone/>
            </a:pPr>
          </a:p>
          <a:p>
            <a:pPr lvl="0" indent="0" marL="0">
              <a:buNone/>
            </a:pPr>
            <a:r>
              <a:rPr b="1"/>
              <a:t>Obiettivi:</a:t>
            </a:r>
            <a:r>
              <a:rPr/>
              <a:t> G2</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Tempo:</a:t>
            </a:r>
            <a:r>
              <a:rPr/>
              <a:t> ~4 min</a:t>
            </a:r>
          </a:p>
          <a:p>
            <a:pPr lvl="0" indent="0" marL="0">
              <a:buNone/>
            </a:pPr>
          </a:p>
          <a:p>
            <a:pPr lvl="0" indent="0" marL="0">
              <a:buNone/>
            </a:pPr>
            <a:r>
              <a:rPr b="1"/>
              <a:t>Da dire:</a:t>
            </a:r>
            <a:r>
              <a:rPr/>
              <a:t> Chiarire che gli stub esistono già: il laboratorio riguarda solo la regola di instradamento, non la costruzione dei servizi a valle. La verifica va fatta da fuori del cluster, perché è l’unico punto di vista che conta per il cliente.</a:t>
            </a:r>
          </a:p>
          <a:p>
            <a:pPr lvl="0" indent="0" marL="0">
              <a:buNone/>
            </a:pPr>
          </a:p>
          <a:p>
            <a:pPr lvl="0" indent="0" marL="0">
              <a:buNone/>
            </a:pPr>
            <a:r>
              <a:rPr b="1"/>
              <a:t>Perché questa slide sta qui:</a:t>
            </a:r>
            <a:r>
              <a:rPr/>
              <a:t> Esperienza concreta dell’unità: il compito precede la formalizzazione del modello di instradamento.</a:t>
            </a:r>
          </a:p>
          <a:p>
            <a:pPr lvl="0" indent="0" marL="0">
              <a:buNone/>
            </a:pPr>
          </a:p>
          <a:p>
            <a:pPr lvl="0" indent="0" marL="0">
              <a:buNone/>
            </a:pPr>
            <a:r>
              <a:rPr b="1"/>
              <a:t>Collegamenti:</a:t>
            </a:r>
            <a:r>
              <a:rPr/>
              <a:t> Il risultato viene ripreso nella sessione 2, dove le stesse rotte vanno protette.</a:t>
            </a:r>
          </a:p>
          <a:p>
            <a:pPr lvl="0" indent="0" marL="0">
              <a:buNone/>
            </a:pPr>
          </a:p>
          <a:p>
            <a:pPr lvl="0" indent="0" marL="0">
              <a:buNone/>
            </a:pPr>
            <a:r>
              <a:rPr b="1"/>
              <a:t>Attenzione a:</a:t>
            </a:r>
            <a:r>
              <a:rPr/>
              <a:t> Il divario di competenza è massimo qui: senza un ruolo esplicito per la corsia ops, i due sviluppatori prendono la tastiera e gli altri due guardano.</a:t>
            </a:r>
          </a:p>
          <a:p>
            <a:pPr lvl="0" indent="0" marL="0">
              <a:buNone/>
            </a:pPr>
          </a:p>
          <a:p>
            <a:pPr lvl="0" indent="0" marL="0">
              <a:buNone/>
            </a:pPr>
            <a:r>
              <a:rPr b="1"/>
              <a:t>Obiettivi:</a:t>
            </a:r>
            <a:r>
              <a:rPr/>
              <a:t> G2</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Tempo:</a:t>
            </a:r>
            <a:r>
              <a:rPr/>
              <a:t> ~3 min</a:t>
            </a:r>
          </a:p>
          <a:p>
            <a:pPr lvl="0" indent="0" marL="0">
              <a:buNone/>
            </a:pPr>
          </a:p>
          <a:p>
            <a:pPr lvl="0" indent="0" marL="0">
              <a:buNone/>
            </a:pPr>
            <a:r>
              <a:rPr b="1"/>
              <a:t>Da dire:</a:t>
            </a:r>
            <a:r>
              <a:rPr/>
              <a:t> Dare il frammento incompleto e chiedere la seconda rotta, invece di mostrare la soluzione intera. Chiedere ad alta voce cosa accade a un path che non corrisponde a nessuna regola: la risposta serve al debriefing e quasi nessuno la indovina.</a:t>
            </a:r>
          </a:p>
          <a:p>
            <a:pPr lvl="0" indent="0" marL="0">
              <a:buNone/>
            </a:pPr>
          </a:p>
          <a:p>
            <a:pPr lvl="0" indent="0" marL="0">
              <a:buNone/>
            </a:pPr>
            <a:r>
              <a:rPr b="1"/>
              <a:t>Perché questa slide sta qui:</a:t>
            </a:r>
            <a:r>
              <a:rPr/>
              <a:t> Ferma la decomposizione su Spring Boot, già patrimonio di questa coppia, e introduce solo ciò che è specifico del gateway.</a:t>
            </a:r>
          </a:p>
          <a:p>
            <a:pPr lvl="0" indent="0" marL="0">
              <a:buNone/>
            </a:pPr>
          </a:p>
          <a:p>
            <a:pPr lvl="0" indent="0" marL="0">
              <a:buNone/>
            </a:pPr>
            <a:r>
              <a:rPr b="1"/>
              <a:t>Collegamenti:</a:t>
            </a:r>
            <a:r>
              <a:rPr/>
              <a:t> Il modello formale di route, predicate e filter arriva dopo, non prima.</a:t>
            </a:r>
          </a:p>
          <a:p>
            <a:pPr lvl="0" indent="0" marL="0">
              <a:buNone/>
            </a:pPr>
          </a:p>
          <a:p>
            <a:pPr lvl="0" indent="0" marL="0">
              <a:buNone/>
            </a:pPr>
            <a:r>
              <a:rPr b="1"/>
              <a:t>Attenzione a:</a:t>
            </a:r>
            <a:r>
              <a:rPr/>
              <a:t> L’ordine delle rotte conta e non è ovvio: è la causa più frequente di uno split che sembra funzionare e non funziona.</a:t>
            </a:r>
          </a:p>
          <a:p>
            <a:pPr lvl="0" indent="0" marL="0">
              <a:buNone/>
            </a:pPr>
          </a:p>
          <a:p>
            <a:pPr lvl="0" indent="0" marL="0">
              <a:buNone/>
            </a:pPr>
            <a:r>
              <a:rPr b="1"/>
              <a:t>Obiettivi:</a:t>
            </a:r>
            <a:r>
              <a:rPr/>
              <a:t> G2</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Tempo:</a:t>
            </a:r>
            <a:r>
              <a:rPr/>
              <a:t> ~3 min</a:t>
            </a:r>
          </a:p>
          <a:p>
            <a:pPr lvl="0" indent="0" marL="0">
              <a:buNone/>
            </a:pPr>
          </a:p>
          <a:p>
            <a:pPr lvl="0" indent="0" marL="0">
              <a:buNone/>
            </a:pPr>
            <a:r>
              <a:rPr b="1"/>
              <a:t>Da dire:</a:t>
            </a:r>
            <a:r>
              <a:rPr/>
              <a:t> Questo non è un compito di riserva: è la verifica indipendente dello split, e la terza chiamata è quella che scopre il caso limite su cui si costruisce il debriefing. Chiedere di riportare le risposte osservate, non le conclusioni.</a:t>
            </a:r>
          </a:p>
          <a:p>
            <a:pPr lvl="0" indent="0" marL="0">
              <a:buNone/>
            </a:pPr>
          </a:p>
          <a:p>
            <a:pPr lvl="0" indent="0" marL="0">
              <a:buNone/>
            </a:pPr>
            <a:r>
              <a:rPr b="1"/>
              <a:t>Perché questa slide sta qui:</a:t>
            </a:r>
            <a:r>
              <a:rPr/>
              <a:t> Dà alla corsia ops un ruolo reale nel blocco più orientato al codice, come richiesto dal progetto a due corsie del curriculum.</a:t>
            </a:r>
          </a:p>
          <a:p>
            <a:pPr lvl="0" indent="0" marL="0">
              <a:buNone/>
            </a:pPr>
          </a:p>
          <a:p>
            <a:pPr lvl="0" indent="0" marL="0">
              <a:buNone/>
            </a:pPr>
            <a:r>
              <a:rPr b="1"/>
              <a:t>Collegamenti:</a:t>
            </a:r>
            <a:r>
              <a:rPr/>
              <a:t> Le tre risposte osservate diventano il materiale della slide di debriefing.</a:t>
            </a:r>
          </a:p>
          <a:p>
            <a:pPr lvl="0" indent="0" marL="0">
              <a:buNone/>
            </a:pPr>
          </a:p>
          <a:p>
            <a:pPr lvl="0" indent="0" marL="0">
              <a:buNone/>
            </a:pPr>
            <a:r>
              <a:rPr b="1"/>
              <a:t>Attenzione a:</a:t>
            </a:r>
            <a:r>
              <a:rPr/>
              <a:t> Se questa coppia resta senza compito nella parte di scrittura del codice, perde il filo per il resto della sessione: assegnare le chiamate per nome.</a:t>
            </a:r>
          </a:p>
          <a:p>
            <a:pPr lvl="0" indent="0" marL="0">
              <a:buNone/>
            </a:pPr>
          </a:p>
          <a:p>
            <a:pPr lvl="0" indent="0" marL="0">
              <a:buNone/>
            </a:pPr>
            <a:r>
              <a:rPr b="1"/>
              <a:t>Obiettivi:</a:t>
            </a:r>
            <a:r>
              <a:rPr/>
              <a:t> G2</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Tempo:</a:t>
            </a:r>
            <a:r>
              <a:rPr/>
              <a:t> ~10 min</a:t>
            </a:r>
          </a:p>
          <a:p>
            <a:pPr lvl="0" indent="0" marL="0">
              <a:buNone/>
            </a:pPr>
          </a:p>
          <a:p>
            <a:pPr lvl="0" indent="0" marL="0">
              <a:buNone/>
            </a:pPr>
            <a:r>
              <a:rPr b="1"/>
              <a:t>Da dire:</a:t>
            </a:r>
            <a:r>
              <a:rPr/>
              <a:t> Partire dalle tre risposte riportate dalla corsia ops, non dalla configurazione scritta dagli sviluppatori: il comportamento osservato è il fatto, la configurazione è solo l’ipotesi. Poi chiedere agli sviluppatori di raccontare il modello di rotte in parole comprensibili all’altra coppia.</a:t>
            </a:r>
          </a:p>
          <a:p>
            <a:pPr lvl="0" indent="0" marL="0">
              <a:buNone/>
            </a:pPr>
          </a:p>
          <a:p>
            <a:pPr lvl="0" indent="0" marL="0">
              <a:buNone/>
            </a:pPr>
            <a:r>
              <a:rPr b="1"/>
              <a:t>Perché questa slide sta qui:</a:t>
            </a:r>
            <a:r>
              <a:rPr/>
              <a:t> Riconvergenza e riflessione previste dal curriculum al termine del laboratorio.</a:t>
            </a:r>
          </a:p>
          <a:p>
            <a:pPr lvl="0" indent="0" marL="0">
              <a:buNone/>
            </a:pPr>
          </a:p>
          <a:p>
            <a:pPr lvl="0" indent="0" marL="0">
              <a:buNone/>
            </a:pPr>
            <a:r>
              <a:rPr b="1"/>
              <a:t>Collegamenti:</a:t>
            </a:r>
            <a:r>
              <a:rPr/>
              <a:t> Il caso del path non corrispondente prepara la domanda di apertura della sessione 2: chi è autorizzato a chiamare queste rotte?</a:t>
            </a:r>
          </a:p>
          <a:p>
            <a:pPr lvl="0" indent="0" marL="0">
              <a:buNone/>
            </a:pPr>
          </a:p>
          <a:p>
            <a:pPr lvl="0" indent="0" marL="0">
              <a:buNone/>
            </a:pPr>
            <a:r>
              <a:rPr b="1"/>
              <a:t>Attenzione a:</a:t>
            </a:r>
            <a:r>
              <a:rPr/>
              <a:t> Far raccontare il modello a chi ha scritto la configurazione è il modo più rapido per scoprire se lo ha capito o solo copiato.</a:t>
            </a:r>
          </a:p>
          <a:p>
            <a:pPr lvl="0" indent="0" marL="0">
              <a:buNone/>
            </a:pPr>
          </a:p>
          <a:p>
            <a:pPr lvl="0" indent="0" marL="0">
              <a:buNone/>
            </a:pPr>
            <a:r>
              <a:rPr b="1"/>
              <a:t>Obiettivi:</a:t>
            </a:r>
            <a:r>
              <a:rPr/>
              <a:t> G2</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Tempo:</a:t>
            </a:r>
            <a:r>
              <a:rPr/>
              <a:t> ~10 min</a:t>
            </a:r>
          </a:p>
          <a:p>
            <a:pPr lvl="0" indent="0" marL="0">
              <a:buNone/>
            </a:pPr>
          </a:p>
          <a:p>
            <a:pPr lvl="0" indent="0" marL="0">
              <a:buNone/>
            </a:pPr>
            <a:r>
              <a:rPr b="1"/>
              <a:t>Da dire:</a:t>
            </a:r>
            <a:r>
              <a:rPr/>
              <a:t> Tre parole e non più di tre: il predicato decide, il filtro trasforma, l’URI indirizza. Percorrere il ramo negativo fino al 404, perché è il caso limite appena osservato dalla corsia ops. Il ciclo sulle rotte spiega da solo perché l’ordine conta.</a:t>
            </a:r>
          </a:p>
          <a:p>
            <a:pPr lvl="0" indent="0" marL="0">
              <a:buNone/>
            </a:pPr>
          </a:p>
          <a:p>
            <a:pPr lvl="0" indent="0" marL="0">
              <a:buNone/>
            </a:pPr>
            <a:r>
              <a:rPr b="1"/>
              <a:t>Perché questa slide sta qui:</a:t>
            </a:r>
            <a:r>
              <a:rPr/>
              <a:t> Formalizza il modello dopo che i partecipanti ne hanno visto il comportamento, e dà il nome alla regola dichiarata dal cliente.</a:t>
            </a:r>
          </a:p>
          <a:p>
            <a:pPr lvl="0" indent="0" marL="0">
              <a:buNone/>
            </a:pPr>
          </a:p>
          <a:p>
            <a:pPr lvl="0" indent="0" marL="0">
              <a:buNone/>
            </a:pPr>
            <a:r>
              <a:rPr b="1"/>
              <a:t>Collegamenti:</a:t>
            </a:r>
            <a:r>
              <a:rPr/>
              <a:t> La catena di filtri è il punto in cui la sessione 2 inserirà la validazione del token e la generazione del token verso il legacy.</a:t>
            </a:r>
          </a:p>
          <a:p>
            <a:pPr lvl="0" indent="0" marL="0">
              <a:buNone/>
            </a:pPr>
          </a:p>
          <a:p>
            <a:pPr lvl="0" indent="0" marL="0">
              <a:buNone/>
            </a:pPr>
            <a:r>
              <a:rPr b="1"/>
              <a:t>Attenzione a:</a:t>
            </a:r>
            <a:r>
              <a:rPr/>
              <a:t> La catena di filtri va accennata e non sviluppata: è il gancio della sessione 2 e qui aprirla ruberebbe tempo all’ultima esperienza attiva.</a:t>
            </a:r>
          </a:p>
          <a:p>
            <a:pPr lvl="0" indent="0" marL="0">
              <a:buNone/>
            </a:pPr>
          </a:p>
          <a:p>
            <a:pPr lvl="0" indent="0" marL="0">
              <a:buNone/>
            </a:pPr>
            <a:r>
              <a:rPr b="1"/>
              <a:t>Obiettivi:</a:t>
            </a:r>
            <a:r>
              <a:rPr/>
              <a:t> G2</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Tempo:</a:t>
            </a:r>
            <a:r>
              <a:rPr/>
              <a:t> ~6 min</a:t>
            </a:r>
          </a:p>
          <a:p>
            <a:pPr lvl="0" indent="0" marL="0">
              <a:buNone/>
            </a:pPr>
          </a:p>
          <a:p>
            <a:pPr lvl="0" indent="0" marL="0">
              <a:buNone/>
            </a:pPr>
            <a:r>
              <a:rPr b="1"/>
              <a:t>Da dire:</a:t>
            </a:r>
            <a:r>
              <a:rPr/>
              <a:t> Chiedere prima dove va messa la nuova rotta e perché, poi farla scrivere: la decisione sull’ordine è l’apprendimento, la scrittura è meccanica. Chi sbaglia l’ordine ottiene un errore osservabile, ed è il risultato migliore possibile.</a:t>
            </a:r>
          </a:p>
          <a:p>
            <a:pPr lvl="0" indent="0" marL="0">
              <a:buNone/>
            </a:pPr>
          </a:p>
          <a:p>
            <a:pPr lvl="0" indent="0" marL="0">
              <a:buNone/>
            </a:pPr>
            <a:r>
              <a:rPr b="1"/>
              <a:t>Perché questa slide sta qui:</a:t>
            </a:r>
            <a:r>
              <a:rPr/>
              <a:t> Sperimentazione attiva su un problema strutturalmente simile ma nuovo, che diventa l’esperienza concreta di apertura della sessione successiva.</a:t>
            </a:r>
          </a:p>
          <a:p>
            <a:pPr lvl="0" indent="0" marL="0">
              <a:buNone/>
            </a:pPr>
          </a:p>
          <a:p>
            <a:pPr lvl="0" indent="0" marL="0">
              <a:buNone/>
            </a:pPr>
            <a:r>
              <a:rPr b="1"/>
              <a:t>Collegamenti:</a:t>
            </a:r>
            <a:r>
              <a:rPr/>
              <a:t> Confluisce direttamente nel menu opzionale e apre la sessione 2.</a:t>
            </a:r>
          </a:p>
          <a:p>
            <a:pPr lvl="0" indent="0" marL="0">
              <a:buNone/>
            </a:pPr>
          </a:p>
          <a:p>
            <a:pPr lvl="0" indent="0" marL="0">
              <a:buNone/>
            </a:pPr>
            <a:r>
              <a:rPr b="1"/>
              <a:t>Attenzione a:</a:t>
            </a:r>
            <a:r>
              <a:rPr/>
              <a:t> Se il tempo stringe, questa è l’ultima cosa da comprimere prima di toccare il menu opzionale: gli obiettivi G1, G2 e G5a non si tagliano mai.</a:t>
            </a:r>
          </a:p>
          <a:p>
            <a:pPr lvl="0" indent="0" marL="0">
              <a:buNone/>
            </a:pPr>
          </a:p>
          <a:p>
            <a:pPr lvl="0" indent="0" marL="0">
              <a:buNone/>
            </a:pPr>
            <a:r>
              <a:rPr b="1"/>
              <a:t>Obiettivi:</a:t>
            </a:r>
            <a:r>
              <a:rPr/>
              <a:t> G2</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Tempo:</a:t>
            </a:r>
            <a:r>
              <a:rPr/>
              <a:t> ~4 min</a:t>
            </a:r>
          </a:p>
          <a:p>
            <a:pPr lvl="0" indent="0" marL="0">
              <a:buNone/>
            </a:pPr>
          </a:p>
          <a:p>
            <a:pPr lvl="0" indent="0" marL="0">
              <a:buNone/>
            </a:pPr>
            <a:r>
              <a:rPr b="1"/>
              <a:t>Da dire:</a:t>
            </a:r>
            <a:r>
              <a:rPr/>
              <a:t> Presentare le tre voci e far scegliere alla classe, non scegliere al posto loro: la voce sui pesi è pensata per chi si annoia, quella su Ingress per la corsia ops. Se la sessione è in ritardo questo è il primo blocco a cadere, e va detto senza girarci intorno.</a:t>
            </a:r>
          </a:p>
          <a:p>
            <a:pPr lvl="0" indent="0" marL="0">
              <a:buNone/>
            </a:pPr>
          </a:p>
          <a:p>
            <a:pPr lvl="0" indent="0" marL="0">
              <a:buNone/>
            </a:pPr>
            <a:r>
              <a:rPr b="1"/>
              <a:t>Perché questa slide sta qui:</a:t>
            </a:r>
            <a:r>
              <a:rPr/>
              <a:t> Autonomia calibrata: il curriculum prevede un menu stretto e non ampio, per non lasciare senza percorso definito chi preferisce una traccia strutturata.</a:t>
            </a:r>
          </a:p>
          <a:p>
            <a:pPr lvl="0" indent="0" marL="0">
              <a:buNone/>
            </a:pPr>
          </a:p>
          <a:p>
            <a:pPr lvl="0" indent="0" marL="0">
              <a:buNone/>
            </a:pPr>
            <a:r>
              <a:rPr b="1"/>
              <a:t>Collegamenti:</a:t>
            </a:r>
            <a:r>
              <a:rPr/>
              <a:t> È anche la valvola di sfogo temporale dichiarata della sessione.</a:t>
            </a:r>
          </a:p>
          <a:p>
            <a:pPr lvl="0" indent="0" marL="0">
              <a:buNone/>
            </a:pPr>
          </a:p>
          <a:p>
            <a:pPr lvl="0" indent="0" marL="0">
              <a:buNone/>
            </a:pPr>
            <a:r>
              <a:rPr b="1"/>
              <a:t>Attenzione a:</a:t>
            </a:r>
            <a:r>
              <a:rPr/>
              <a:t> Se cade, riprenderlo come accenno narrato di cinque minuti invece di eliminarlo del tutto: resta il segnale che esistono alternative.</a:t>
            </a:r>
          </a:p>
          <a:p>
            <a:pPr lvl="0" indent="0" marL="0">
              <a:buNone/>
            </a:pPr>
          </a:p>
          <a:p>
            <a:pPr lvl="0" indent="0" marL="0">
              <a:buNone/>
            </a:pPr>
            <a:r>
              <a:rPr b="1"/>
              <a:t>Obiettivi:</a:t>
            </a:r>
            <a:r>
              <a:rPr/>
              <a:t> G2</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Tempo:</a:t>
            </a:r>
            <a:r>
              <a:rPr/>
              <a:t> ~4 min</a:t>
            </a:r>
          </a:p>
          <a:p>
            <a:pPr lvl="0" indent="0" marL="0">
              <a:buNone/>
            </a:pPr>
          </a:p>
          <a:p>
            <a:pPr lvl="0" indent="0" marL="0">
              <a:buNone/>
            </a:pPr>
            <a:r>
              <a:rPr b="1"/>
              <a:t>Da dire:</a:t>
            </a:r>
            <a:r>
              <a:rPr/>
              <a:t> Dire quanto costa davvero, meno di un’ora, perché il margine di tempo extra-aula di questa coorte è stretto e un compito che sembra grande non viene fatto. Spiegare a cosa serve: senza la scorsa sul token, il blocco di validazione della sessione 2 rischia di sforare.</a:t>
            </a:r>
          </a:p>
          <a:p>
            <a:pPr lvl="0" indent="0" marL="0">
              <a:buNone/>
            </a:pPr>
          </a:p>
          <a:p>
            <a:pPr lvl="0" indent="0" marL="0">
              <a:buNone/>
            </a:pPr>
            <a:r>
              <a:rPr b="1"/>
              <a:t>Perché questa slide sta qui:</a:t>
            </a:r>
            <a:r>
              <a:rPr/>
              <a:t> La settimana di intervallo rende praticabile il lavoro fra le sessioni, e il curriculum lo prevede esplicitamente.</a:t>
            </a:r>
          </a:p>
          <a:p>
            <a:pPr lvl="0" indent="0" marL="0">
              <a:buNone/>
            </a:pPr>
          </a:p>
          <a:p>
            <a:pPr lvl="0" indent="0" marL="0">
              <a:buNone/>
            </a:pPr>
            <a:r>
              <a:rPr b="1"/>
              <a:t>Collegamenti:</a:t>
            </a:r>
            <a:r>
              <a:rPr/>
              <a:t> Alimenta direttamente l’unità 2.1 e la verifica del tracciamento dell’unità 2.3.</a:t>
            </a:r>
          </a:p>
          <a:p>
            <a:pPr lvl="0" indent="0" marL="0">
              <a:buNone/>
            </a:pPr>
          </a:p>
          <a:p>
            <a:pPr lvl="0" indent="0" marL="0">
              <a:buNone/>
            </a:pPr>
            <a:r>
              <a:rPr b="1"/>
              <a:t>Attenzione a:</a:t>
            </a:r>
            <a:r>
              <a:rPr/>
              <a:t> Il curriculum segnala come rischio aperto che la familiarità con Entra ID sia più bassa del previsto anche fra gli sviluppatori: questo compito è la mitigazione, non un extra.</a:t>
            </a:r>
          </a:p>
          <a:p>
            <a:pPr lvl="0" indent="0" marL="0">
              <a:buNone/>
            </a:pPr>
          </a:p>
          <a:p>
            <a:pPr lvl="0" indent="0" marL="0">
              <a:buNone/>
            </a:pPr>
            <a:r>
              <a:rPr b="1"/>
              <a:t>Obiettivi:</a:t>
            </a:r>
            <a:r>
              <a:rPr/>
              <a:t> G3, G5b</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1250000"/>
          </a:xfrm>
          <a:prstGeom prst="rect">
            <a:avLst/>
          </a:prstGeom>
        </p:spPr>
        <p:txBody>
          <a:bodyPr anchor="ctr" bIns="45720" lIns="91440" rIns="91440" rtlCol="0" tIns="45720" vert="horz"/>
          <a:lstStyle/>
          <a:p>
            <a:r>
              <a:rPr lang="en-US"/>
              <a:t>Click to edit Master title style</a:t>
            </a:r>
          </a:p>
        </p:txBody>
      </p:sp>
      <p:sp>
        <p:nvSpPr>
          <p:cNvPr id="3" name="Text Placeholder 2"/>
          <p:cNvSpPr>
            <a:spLocks noGrp="1"/>
          </p:cNvSpPr>
          <p:nvPr>
            <p:ph idx="1" type="body"/>
          </p:nvPr>
        </p:nvSpPr>
        <p:spPr>
          <a:xfrm>
            <a:off x="457200" y="1550000"/>
            <a:ext cx="8229600" cy="3117263"/>
          </a:xfrm>
          <a:prstGeom prst="rect">
            <a:avLst/>
          </a:prstGeom>
        </p:spPr>
        <p:txBody>
          <a:bodyPr bIns="45720" lIns="91440" rIns="91440" rtlCol="0" tIns="45720" vert="horz"/>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normAutofit fontScale="90000" lnSpcReduction="10000"/>
          </a:bodyPr>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4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2.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3.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hyperlink" Target="https://docs.spring.io/spring-cloud-gateway/reference/" TargetMode="Externa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4.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[DRAFT] Sessione 1 — Mettere in piedi il gateway e rendere reale lo split strangler-fig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Obiettivi G1, G2 e primo passaggio su G5</a:t>
            </a:r>
            <a:br/>
            <a:br/>
            <a:r>
              <a:rPr/>
              <a:t>Spring Cloud Gateway per una migrazione strangler-fig su GKE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Unit 1.1 — Deploy di un gateway minimo su GKE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Lo stesso gateway è due oggetti diversi secondo il mestiere di chi lo guarda.</a:t>
            </a:r>
          </a:p>
        </p:txBody>
      </p:sp>
      <p:pic>
        <p:nvPicPr>
          <p:cNvPr descr="material/slides/out/build/session-01/mermaid/S1-U1.1-01.png" id="0" name="Picture 1"/>
          <p:cNvPicPr>
            <a:picLocks noGrp="1" noChangeAspect="1"/>
          </p:cNvPicPr>
          <p:nvPr/>
        </p:nvPicPr>
        <p:blipFill>
          <a:blip r:embed="rId3"/>
          <a:stretch>
            <a:fillRect/>
          </a:stretch>
        </p:blipFill>
        <p:spPr bwMode="auto">
          <a:xfrm>
            <a:off x="1765300" y="1549400"/>
            <a:ext cx="5626100" cy="2603500"/>
          </a:xfrm>
          <a:prstGeom prst="rect">
            <a:avLst/>
          </a:prstGeom>
          <a:noFill/>
          <a:ln w="9525">
            <a:noFill/>
            <a:headEnd/>
            <a:tailEnd/>
          </a:ln>
        </p:spPr>
      </p:pic>
      <p:sp>
        <p:nvSpPr>
          <p:cNvPr id="1" name="TextBox 3"/>
          <p:cNvSpPr txBox="1"/>
          <p:nvPr/>
        </p:nvSpPr>
        <p:spPr>
          <a:xfrm>
            <a:off x="457200" y="4152900"/>
            <a:ext cx="8229600" cy="508000"/>
          </a:xfrm>
          <a:prstGeom prst="rect">
            <a:avLst/>
          </a:prstGeom>
          <a:noFill/>
        </p:spPr>
        <p:txBody>
          <a:bodyPr/>
          <a:lstStyle/>
          <a:p>
            <a:pPr lvl="0" indent="0" marL="0" algn="ctr">
              <a:buNone/>
            </a:pPr>
            <a:r>
              <a:rPr/>
              <a:t>Un solo componente, due letture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Finché nessuno raggiunge il gateway dall’esterno, la migrazione non è iniziata.</a:t>
            </a:r>
          </a:p>
        </p:txBody>
      </p:sp>
      <p:sp>
        <p:nvSpPr>
          <p:cNvPr id="3" name="Content Placeholder 2"/>
          <p:cNvSpPr>
            <a:spLocks noGrp="1"/>
          </p:cNvSpPr>
          <p:nvPr>
            <p:ph idx="1"/>
          </p:nvPr>
        </p:nvSpPr>
        <p:spPr/>
        <p:txBody>
          <a:bodyPr/>
          <a:lstStyle/>
          <a:p>
            <a:pPr lvl="0" indent="0" marL="1270000">
              <a:buNone/>
            </a:pPr>
            <a:r>
              <a:rPr sz="2000"/>
              <a:t>Il cluster GKE è pronto, l’immagine del gateway esiste. Nessuna richiesta arriva a destinazione.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Il compito è un pod del gateway raggiungibile entro il time box.</a:t>
            </a:r>
          </a:p>
        </p:txBody>
      </p:sp>
      <p:sp>
        <p:nvSpPr>
          <p:cNvPr id="3" name="Content Placeholder 2"/>
          <p:cNvSpPr>
            <a:spLocks noGrp="1"/>
          </p:cNvSpPr>
          <p:nvPr>
            <p:ph idx="1"/>
          </p:nvPr>
        </p:nvSpPr>
        <p:spPr/>
        <p:txBody>
          <a:bodyPr/>
          <a:lstStyle/>
          <a:p>
            <a:pPr lvl="0"/>
            <a:r>
              <a:rPr/>
              <a:t>Immagine del gateway già disponibile</a:t>
            </a:r>
          </a:p>
          <a:p>
            <a:pPr lvl="0"/>
            <a:r>
              <a:rPr/>
              <a:t>Cluster GKE vuoto e pronto</a:t>
            </a:r>
          </a:p>
          <a:p>
            <a:pPr lvl="0"/>
            <a:r>
              <a:rPr/>
              <a:t>Esito atteso: risposta dall’esterno</a:t>
            </a:r>
          </a:p>
          <a:p>
            <a:pPr lvl="0"/>
            <a:r>
              <a:rPr/>
              <a:t>Time box dichiarato e visibile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 corsia sviluppo lavora sull’applicazione e sulla sua immagine.</a:t>
            </a:r>
          </a:p>
        </p:txBody>
      </p:sp>
      <p:sp>
        <p:nvSpPr>
          <p:cNvPr id="3" name="Content Placeholder 2"/>
          <p:cNvSpPr>
            <a:spLocks noGrp="1"/>
          </p:cNvSpPr>
          <p:nvPr>
            <p:ph idx="1"/>
          </p:nvPr>
        </p:nvSpPr>
        <p:spPr/>
        <p:txBody>
          <a:bodyPr/>
          <a:lstStyle/>
          <a:p>
            <a:pPr lvl="0" indent="-342900" marL="342900">
              <a:buAutoNum type="arabicPeriod"/>
            </a:pPr>
            <a:r>
              <a:rPr/>
              <a:t>Ispezionare l’applicazione Spring Boot</a:t>
            </a:r>
          </a:p>
          <a:p>
            <a:pPr lvl="0" indent="-342900" marL="342900">
              <a:buAutoNum type="arabicPeriod"/>
            </a:pPr>
            <a:r>
              <a:rPr/>
              <a:t>Verificare porta e endpoint di salute</a:t>
            </a:r>
          </a:p>
          <a:p>
            <a:pPr lvl="0" indent="-342900" marL="342900">
              <a:buAutoNum type="arabicPeriod"/>
            </a:pPr>
            <a:r>
              <a:rPr/>
              <a:t>Controllare il Dockerfile</a:t>
            </a:r>
          </a:p>
          <a:p>
            <a:pPr lvl="0" indent="-342900" marL="342900">
              <a:buAutoNum type="arabicPeriod"/>
            </a:pPr>
            <a:r>
              <a:rPr/>
              <a:t>Consegnare l’immagine alla corsia ops</a:t>
            </a:r>
          </a:p>
          <a:p>
            <a:pPr lvl="0" indent="0" marL="0">
              <a:buNone/>
            </a:pPr>
            <a:r>
              <a:rPr i="1"/>
              <a:t>corsia SVILUPPO</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 corsia ops porta l’immagine sul cluster e la rende raggiungibile.</a:t>
            </a:r>
          </a:p>
        </p:txBody>
      </p:sp>
      <p:sp>
        <p:nvSpPr>
          <p:cNvPr id="3" name="Content Placeholder 2"/>
          <p:cNvSpPr>
            <a:spLocks noGrp="1"/>
          </p:cNvSpPr>
          <p:nvPr>
            <p:ph idx="1"/>
          </p:nvPr>
        </p:nvSpPr>
        <p:spPr/>
        <p:txBody>
          <a:bodyPr/>
          <a:lstStyle/>
          <a:p>
            <a:pPr lvl="0" indent="-342900" marL="342900">
              <a:buAutoNum type="arabicPeriod"/>
            </a:pPr>
            <a:r>
              <a:rPr/>
              <a:t>Scrivere il Deployment</a:t>
            </a:r>
          </a:p>
          <a:p>
            <a:pPr lvl="0" indent="-342900" marL="342900">
              <a:buAutoNum type="arabicPeriod"/>
            </a:pPr>
            <a:r>
              <a:rPr/>
              <a:t>Esporre il Service</a:t>
            </a:r>
          </a:p>
          <a:p>
            <a:pPr lvl="0" indent="-342900" marL="342900">
              <a:buAutoNum type="arabicPeriod"/>
            </a:pPr>
            <a:r>
              <a:rPr/>
              <a:t>Impostare la readiness probe</a:t>
            </a:r>
          </a:p>
          <a:p>
            <a:pPr lvl="0" indent="-342900" marL="342900">
              <a:buAutoNum type="arabicPeriod"/>
            </a:pPr>
            <a:r>
              <a:rPr/>
              <a:t>Chiamare l’endpoint dall’esterno</a:t>
            </a:r>
          </a:p>
          <a:p>
            <a:pPr lvl="0" indent="0" marL="0">
              <a:buNone/>
            </a:pPr>
            <a:r>
              <a:rPr i="1"/>
              <a:t>corsia OPS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Nella maggioranza dei casi il blocco è l’esposizione, non l’immagine.</a:t>
            </a:r>
          </a:p>
        </p:txBody>
      </p:sp>
      <p:sp>
        <p:nvSpPr>
          <p:cNvPr id="3" name="Content Placeholder 2"/>
          <p:cNvSpPr>
            <a:spLocks noGrp="1"/>
          </p:cNvSpPr>
          <p:nvPr>
            <p:ph idx="1"/>
          </p:nvPr>
        </p:nvSpPr>
        <p:spPr/>
        <p:txBody>
          <a:bodyPr/>
          <a:lstStyle/>
          <a:p>
            <a:pPr lvl="0"/>
            <a:r>
              <a:rPr/>
              <a:t>Cosa si è rotto per primo?</a:t>
            </a:r>
          </a:p>
          <a:p>
            <a:pPr lvl="0"/>
            <a:r>
              <a:rPr/>
              <a:t>Come lo avete capito?</a:t>
            </a:r>
          </a:p>
          <a:p>
            <a:pPr lvl="0"/>
            <a:r>
              <a:rPr/>
              <a:t>Chi ha visto cosa, da che punto?</a:t>
            </a:r>
          </a:p>
          <a:p>
            <a:pPr lvl="0"/>
            <a:r>
              <a:rPr/>
              <a:t>Cosa cambiereste ora?</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Una richiesta raggiunge il pod solo se Service e probe lo consentono.</a:t>
            </a:r>
          </a:p>
        </p:txBody>
      </p:sp>
      <p:pic>
        <p:nvPicPr>
          <p:cNvPr descr="material/slides/out/build/session-01/mermaid/S1-U1.1-07.png" id="0" name="Picture 1"/>
          <p:cNvPicPr>
            <a:picLocks noGrp="1" noChangeAspect="1"/>
          </p:cNvPicPr>
          <p:nvPr/>
        </p:nvPicPr>
        <p:blipFill>
          <a:blip r:embed="rId3"/>
          <a:stretch>
            <a:fillRect/>
          </a:stretch>
        </p:blipFill>
        <p:spPr bwMode="auto">
          <a:xfrm>
            <a:off x="457200" y="2159000"/>
            <a:ext cx="8229600" cy="1384300"/>
          </a:xfrm>
          <a:prstGeom prst="rect">
            <a:avLst/>
          </a:prstGeom>
          <a:noFill/>
          <a:ln w="9525">
            <a:noFill/>
            <a:headEnd/>
            <a:tailEnd/>
          </a:ln>
        </p:spPr>
      </p:pic>
      <p:sp>
        <p:nvSpPr>
          <p:cNvPr id="1" name="TextBox 3"/>
          <p:cNvSpPr txBox="1"/>
          <p:nvPr/>
        </p:nvSpPr>
        <p:spPr>
          <a:xfrm>
            <a:off x="457200" y="4152900"/>
            <a:ext cx="8229600" cy="508000"/>
          </a:xfrm>
          <a:prstGeom prst="rect">
            <a:avLst/>
          </a:prstGeom>
          <a:noFill/>
        </p:spPr>
        <p:txBody>
          <a:bodyPr/>
          <a:lstStyle/>
          <a:p>
            <a:pPr lvl="0" indent="0" marL="0" algn="ctr">
              <a:buNone/>
            </a:pPr>
            <a:r>
              <a:rPr/>
              <a:t>Il percorso completo di una richiesta</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L’exporter OpenTelemetry di default si abilita senza scrivere codice.</a:t>
            </a:r>
          </a:p>
        </p:txBody>
      </p:sp>
      <p:sp>
        <p:nvSpPr>
          <p:cNvPr id="3" name="Content Placeholder 2"/>
          <p:cNvSpPr>
            <a:spLocks noGrp="1"/>
          </p:cNvSpPr>
          <p:nvPr>
            <p:ph idx="1"/>
          </p:nvPr>
        </p:nvSpPr>
        <p:spPr/>
        <p:txBody>
          <a:bodyPr/>
          <a:lstStyle/>
          <a:p>
            <a:pPr lvl="0" indent="0">
              <a:buNone/>
            </a:pPr>
            <a:r>
              <a:rPr>
                <a:solidFill>
                  <a:srgbClr val="06287E"/>
                </a:solidFill>
                <a:latin typeface="Courier"/>
              </a:rPr>
              <a:t>management</a:t>
            </a:r>
            <a:r>
              <a:rPr b="1">
                <a:solidFill>
                  <a:srgbClr val="007020"/>
                </a:solidFill>
                <a:latin typeface="Courier"/>
              </a:rPr>
              <a:t>:</a:t>
            </a:r>
            <a:br/>
            <a:r>
              <a:rPr>
                <a:solidFill>
                  <a:srgbClr val="7D9029"/>
                </a:solidFill>
                <a:latin typeface="Courier"/>
              </a:rPr>
              <a:t>  </a:t>
            </a:r>
            <a:r>
              <a:rPr>
                <a:solidFill>
                  <a:srgbClr val="06287E"/>
                </a:solidFill>
                <a:latin typeface="Courier"/>
              </a:rPr>
              <a:t>tracing</a:t>
            </a:r>
            <a:r>
              <a:rPr b="1">
                <a:solidFill>
                  <a:srgbClr val="007020"/>
                </a:solidFill>
                <a:latin typeface="Courier"/>
              </a:rPr>
              <a:t>:</a:t>
            </a:r>
            <a:br/>
            <a:r>
              <a:rPr>
                <a:solidFill>
                  <a:srgbClr val="7D9029"/>
                </a:solidFill>
                <a:latin typeface="Courier"/>
              </a:rPr>
              <a:t>    </a:t>
            </a:r>
            <a:r>
              <a:rPr>
                <a:solidFill>
                  <a:srgbClr val="06287E"/>
                </a:solidFill>
                <a:latin typeface="Courier"/>
              </a:rPr>
              <a:t>sampling</a:t>
            </a:r>
            <a:r>
              <a:rPr b="1">
                <a:solidFill>
                  <a:srgbClr val="007020"/>
                </a:solidFill>
                <a:latin typeface="Courier"/>
              </a:rPr>
              <a:t>:</a:t>
            </a:r>
            <a:br/>
            <a:r>
              <a:rPr>
                <a:solidFill>
                  <a:srgbClr val="7D9029"/>
                </a:solidFill>
                <a:latin typeface="Courier"/>
              </a:rPr>
              <a:t>      </a:t>
            </a:r>
            <a:r>
              <a:rPr>
                <a:solidFill>
                  <a:srgbClr val="06287E"/>
                </a:solidFill>
                <a:latin typeface="Courier"/>
              </a:rPr>
              <a:t>probability</a:t>
            </a:r>
            <a:r>
              <a:rPr b="1">
                <a:solidFill>
                  <a:srgbClr val="007020"/>
                </a:solidFill>
                <a:latin typeface="Courier"/>
              </a:rPr>
              <a:t>:</a:t>
            </a:r>
            <a:r>
              <a:rPr>
                <a:solidFill>
                  <a:srgbClr val="7D9029"/>
                </a:solidFill>
                <a:latin typeface="Courier"/>
              </a:rPr>
              <a:t> </a:t>
            </a:r>
            <a:r>
              <a:rPr>
                <a:solidFill>
                  <a:srgbClr val="40A070"/>
                </a:solidFill>
                <a:latin typeface="Courier"/>
              </a:rPr>
              <a:t>1.0</a:t>
            </a:r>
            <a:br/>
            <a:r>
              <a:rPr>
                <a:solidFill>
                  <a:srgbClr val="06287E"/>
                </a:solidFill>
                <a:latin typeface="Courier"/>
              </a:rPr>
              <a:t>otel</a:t>
            </a:r>
            <a:r>
              <a:rPr b="1">
                <a:solidFill>
                  <a:srgbClr val="007020"/>
                </a:solidFill>
                <a:latin typeface="Courier"/>
              </a:rPr>
              <a:t>:</a:t>
            </a:r>
            <a:br/>
            <a:r>
              <a:rPr>
                <a:solidFill>
                  <a:srgbClr val="7D9029"/>
                </a:solidFill>
                <a:latin typeface="Courier"/>
              </a:rPr>
              <a:t>  </a:t>
            </a:r>
            <a:r>
              <a:rPr>
                <a:solidFill>
                  <a:srgbClr val="06287E"/>
                </a:solidFill>
                <a:latin typeface="Courier"/>
              </a:rPr>
              <a:t>exporter</a:t>
            </a:r>
            <a:r>
              <a:rPr b="1">
                <a:solidFill>
                  <a:srgbClr val="007020"/>
                </a:solidFill>
                <a:latin typeface="Courier"/>
              </a:rPr>
              <a:t>:</a:t>
            </a:r>
            <a:br/>
            <a:r>
              <a:rPr>
                <a:solidFill>
                  <a:srgbClr val="7D9029"/>
                </a:solidFill>
                <a:latin typeface="Courier"/>
              </a:rPr>
              <a:t>    </a:t>
            </a:r>
            <a:r>
              <a:rPr>
                <a:solidFill>
                  <a:srgbClr val="06287E"/>
                </a:solidFill>
                <a:latin typeface="Courier"/>
              </a:rPr>
              <a:t>otlp</a:t>
            </a:r>
            <a:r>
              <a:rPr b="1">
                <a:solidFill>
                  <a:srgbClr val="007020"/>
                </a:solidFill>
                <a:latin typeface="Courier"/>
              </a:rPr>
              <a:t>:</a:t>
            </a:r>
            <a:br/>
            <a:r>
              <a:rPr>
                <a:solidFill>
                  <a:srgbClr val="7D9029"/>
                </a:solidFill>
                <a:latin typeface="Courier"/>
              </a:rPr>
              <a:t>      </a:t>
            </a:r>
            <a:r>
              <a:rPr>
                <a:solidFill>
                  <a:srgbClr val="06287E"/>
                </a:solidFill>
                <a:latin typeface="Courier"/>
              </a:rPr>
              <a:t>endpoint</a:t>
            </a:r>
            <a:r>
              <a:rPr b="1">
                <a:solidFill>
                  <a:srgbClr val="007020"/>
                </a:solidFill>
                <a:latin typeface="Courier"/>
              </a:rPr>
              <a:t>:</a:t>
            </a:r>
            <a:r>
              <a:rPr>
                <a:solidFill>
                  <a:srgbClr val="7D9029"/>
                </a:solidFill>
                <a:latin typeface="Courier"/>
              </a:rPr>
              <a:t> http://collector:4317</a:t>
            </a:r>
          </a:p>
          <a:p>
            <a:pPr lvl="0" indent="0" marL="0">
              <a:buNone/>
            </a:pPr>
            <a:r>
              <a:rPr i="1"/>
              <a:t>Configurazione, non codice: vale per entrambe le corsie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Una traccia reale della vostra richiesta compare nel collector.</a:t>
            </a:r>
          </a:p>
        </p:txBody>
      </p:sp>
      <p:sp>
        <p:nvSpPr>
          <p:cNvPr id="3" name="Content Placeholder 2"/>
          <p:cNvSpPr>
            <a:spLocks noGrp="1"/>
          </p:cNvSpPr>
          <p:nvPr>
            <p:ph idx="1"/>
          </p:nvPr>
        </p:nvSpPr>
        <p:spPr/>
        <p:txBody>
          <a:bodyPr/>
          <a:lstStyle/>
          <a:p>
            <a:pPr lvl="0" indent="0" marL="1270000">
              <a:buNone/>
            </a:pPr>
            <a:r>
              <a:rPr sz="2000" b="1"/>
              <a:t>DA FORNIRE:</a:t>
            </a:r>
            <a:r>
              <a:rPr sz="2000"/>
              <a:t> Schermata del collector o della console di osservabilità del cliente con una singola traccia espansa, che mostri lo span del gateway.</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Unit 1.2 — Instradamento strangler-fig basato sul path</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Ora il traffico deve scegliere fra il servizio nuovo e il legacy.</a:t>
            </a:r>
          </a:p>
        </p:txBody>
      </p:sp>
      <p:pic>
        <p:nvPicPr>
          <p:cNvPr descr="material/slides/out/build/session-01/mermaid/S1-U1.2-01.png" id="0" name="Picture 1"/>
          <p:cNvPicPr>
            <a:picLocks noGrp="1" noChangeAspect="1"/>
          </p:cNvPicPr>
          <p:nvPr/>
        </p:nvPicPr>
        <p:blipFill>
          <a:blip r:embed="rId3"/>
          <a:stretch>
            <a:fillRect/>
          </a:stretch>
        </p:blipFill>
        <p:spPr bwMode="auto">
          <a:xfrm>
            <a:off x="457200" y="1689100"/>
            <a:ext cx="8229600" cy="2311400"/>
          </a:xfrm>
          <a:prstGeom prst="rect">
            <a:avLst/>
          </a:prstGeom>
          <a:noFill/>
          <a:ln w="9525">
            <a:noFill/>
            <a:headEnd/>
            <a:tailEnd/>
          </a:ln>
        </p:spPr>
      </p:pic>
      <p:sp>
        <p:nvSpPr>
          <p:cNvPr id="1" name="TextBox 3"/>
          <p:cNvSpPr txBox="1"/>
          <p:nvPr/>
        </p:nvSpPr>
        <p:spPr>
          <a:xfrm>
            <a:off x="457200" y="4152900"/>
            <a:ext cx="8229600" cy="508000"/>
          </a:xfrm>
          <a:prstGeom prst="rect">
            <a:avLst/>
          </a:prstGeom>
          <a:noFill/>
        </p:spPr>
        <p:txBody>
          <a:bodyPr/>
          <a:lstStyle/>
          <a:p>
            <a:pPr lvl="0" indent="0" marL="0" algn="ctr">
              <a:buNone/>
            </a:pPr>
            <a:r>
              <a:rPr/>
              <a:t>Lo split che rende reale la strangler fig</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Il compito è mandare /legacy allo stub vecchio e il resto al nuovo.</a:t>
            </a:r>
          </a:p>
        </p:txBody>
      </p:sp>
      <p:sp>
        <p:nvSpPr>
          <p:cNvPr id="3" name="Content Placeholder 2"/>
          <p:cNvSpPr>
            <a:spLocks noGrp="1"/>
          </p:cNvSpPr>
          <p:nvPr>
            <p:ph idx="1"/>
          </p:nvPr>
        </p:nvSpPr>
        <p:spPr/>
        <p:txBody>
          <a:bodyPr/>
          <a:lstStyle/>
          <a:p>
            <a:pPr lvl="0"/>
            <a:r>
              <a:rPr/>
              <a:t>Due stub già distribuiti e raggiungibili</a:t>
            </a:r>
          </a:p>
          <a:p>
            <a:pPr lvl="0"/>
            <a:r>
              <a:rPr/>
              <a:t>Regola attesa: /legacy/** al legacy</a:t>
            </a:r>
          </a:p>
          <a:p>
            <a:pPr lvl="0"/>
            <a:r>
              <a:rPr/>
              <a:t>Ogni altro path al microservizio</a:t>
            </a:r>
          </a:p>
          <a:p>
            <a:pPr lvl="0"/>
            <a:r>
              <a:rPr/>
              <a:t>Verifica dall’esterno del cluster</a:t>
            </a:r>
          </a:p>
          <a:p>
            <a:pPr lvl="0"/>
            <a:r>
              <a:rPr>
                <a:hlinkClick r:id="rId3"/>
              </a:rPr>
              <a:t>Documentazione Spring Cloud Gateway — route, predicate, filter</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 corsia sviluppo scrive predicate e filter dello split.</a:t>
            </a:r>
          </a:p>
        </p:txBody>
      </p:sp>
      <p:sp>
        <p:nvSpPr>
          <p:cNvPr id="3" name="Content Placeholder 2"/>
          <p:cNvSpPr>
            <a:spLocks noGrp="1"/>
          </p:cNvSpPr>
          <p:nvPr>
            <p:ph idx="1"/>
          </p:nvPr>
        </p:nvSpPr>
        <p:spPr/>
        <p:txBody>
          <a:bodyPr/>
          <a:lstStyle/>
          <a:p>
            <a:pPr lvl="0" indent="0">
              <a:buNone/>
            </a:pPr>
            <a:r>
              <a:rPr>
                <a:solidFill>
                  <a:srgbClr val="06287E"/>
                </a:solidFill>
                <a:latin typeface="Courier"/>
              </a:rPr>
              <a:t>spring</a:t>
            </a:r>
            <a:r>
              <a:rPr b="1">
                <a:solidFill>
                  <a:srgbClr val="007020"/>
                </a:solidFill>
                <a:latin typeface="Courier"/>
              </a:rPr>
              <a:t>:</a:t>
            </a:r>
            <a:br/>
            <a:r>
              <a:rPr>
                <a:solidFill>
                  <a:srgbClr val="7D9029"/>
                </a:solidFill>
                <a:latin typeface="Courier"/>
              </a:rPr>
              <a:t>  </a:t>
            </a:r>
            <a:r>
              <a:rPr>
                <a:solidFill>
                  <a:srgbClr val="06287E"/>
                </a:solidFill>
                <a:latin typeface="Courier"/>
              </a:rPr>
              <a:t>cloud</a:t>
            </a:r>
            <a:r>
              <a:rPr b="1">
                <a:solidFill>
                  <a:srgbClr val="007020"/>
                </a:solidFill>
                <a:latin typeface="Courier"/>
              </a:rPr>
              <a:t>:</a:t>
            </a:r>
            <a:br/>
            <a:r>
              <a:rPr>
                <a:solidFill>
                  <a:srgbClr val="7D9029"/>
                </a:solidFill>
                <a:latin typeface="Courier"/>
              </a:rPr>
              <a:t>    </a:t>
            </a:r>
            <a:r>
              <a:rPr>
                <a:solidFill>
                  <a:srgbClr val="06287E"/>
                </a:solidFill>
                <a:latin typeface="Courier"/>
              </a:rPr>
              <a:t>gateway</a:t>
            </a:r>
            <a:r>
              <a:rPr b="1">
                <a:solidFill>
                  <a:srgbClr val="007020"/>
                </a:solidFill>
                <a:latin typeface="Courier"/>
              </a:rPr>
              <a:t>:</a:t>
            </a:r>
            <a:br/>
            <a:r>
              <a:rPr>
                <a:solidFill>
                  <a:srgbClr val="7D9029"/>
                </a:solidFill>
                <a:latin typeface="Courier"/>
              </a:rPr>
              <a:t>      </a:t>
            </a:r>
            <a:r>
              <a:rPr>
                <a:solidFill>
                  <a:srgbClr val="06287E"/>
                </a:solidFill>
                <a:latin typeface="Courier"/>
              </a:rPr>
              <a:t>routes</a:t>
            </a:r>
            <a:r>
              <a:rPr b="1">
                <a:solidFill>
                  <a:srgbClr val="007020"/>
                </a:solidFill>
                <a:latin typeface="Courier"/>
              </a:rPr>
              <a:t>:</a:t>
            </a:r>
            <a:br/>
            <a:r>
              <a:rPr>
                <a:solidFill>
                  <a:srgbClr val="7D9029"/>
                </a:solidFill>
                <a:latin typeface="Courier"/>
              </a:rPr>
              <a:t>        </a:t>
            </a:r>
            <a:r>
              <a:rPr b="1">
                <a:solidFill>
                  <a:srgbClr val="007020"/>
                </a:solidFill>
                <a:latin typeface="Courier"/>
              </a:rPr>
              <a:t>-</a:t>
            </a:r>
            <a:r>
              <a:rPr>
                <a:solidFill>
                  <a:srgbClr val="7D9029"/>
                </a:solidFill>
                <a:latin typeface="Courier"/>
              </a:rPr>
              <a:t> </a:t>
            </a:r>
            <a:r>
              <a:rPr>
                <a:solidFill>
                  <a:srgbClr val="06287E"/>
                </a:solidFill>
                <a:latin typeface="Courier"/>
              </a:rPr>
              <a:t>id</a:t>
            </a:r>
            <a:r>
              <a:rPr b="1">
                <a:solidFill>
                  <a:srgbClr val="007020"/>
                </a:solidFill>
                <a:latin typeface="Courier"/>
              </a:rPr>
              <a:t>:</a:t>
            </a:r>
            <a:r>
              <a:rPr>
                <a:solidFill>
                  <a:srgbClr val="7D9029"/>
                </a:solidFill>
                <a:latin typeface="Courier"/>
              </a:rPr>
              <a:t> legacy</a:t>
            </a:r>
            <a:br/>
            <a:r>
              <a:rPr>
                <a:solidFill>
                  <a:srgbClr val="7D9029"/>
                </a:solidFill>
                <a:latin typeface="Courier"/>
              </a:rPr>
              <a:t>          </a:t>
            </a:r>
            <a:r>
              <a:rPr>
                <a:solidFill>
                  <a:srgbClr val="06287E"/>
                </a:solidFill>
                <a:latin typeface="Courier"/>
              </a:rPr>
              <a:t>uri</a:t>
            </a:r>
            <a:r>
              <a:rPr b="1">
                <a:solidFill>
                  <a:srgbClr val="007020"/>
                </a:solidFill>
                <a:latin typeface="Courier"/>
              </a:rPr>
              <a:t>:</a:t>
            </a:r>
            <a:r>
              <a:rPr>
                <a:solidFill>
                  <a:srgbClr val="7D9029"/>
                </a:solidFill>
                <a:latin typeface="Courier"/>
              </a:rPr>
              <a:t> http://legacy-stub:8080</a:t>
            </a:r>
            <a:br/>
            <a:r>
              <a:rPr>
                <a:solidFill>
                  <a:srgbClr val="7D9029"/>
                </a:solidFill>
                <a:latin typeface="Courier"/>
              </a:rPr>
              <a:t>          </a:t>
            </a:r>
            <a:r>
              <a:rPr>
                <a:solidFill>
                  <a:srgbClr val="06287E"/>
                </a:solidFill>
                <a:latin typeface="Courier"/>
              </a:rPr>
              <a:t>predicates</a:t>
            </a:r>
            <a:r>
              <a:rPr b="1">
                <a:solidFill>
                  <a:srgbClr val="007020"/>
                </a:solidFill>
                <a:latin typeface="Courier"/>
              </a:rPr>
              <a:t>:</a:t>
            </a:r>
            <a:br/>
            <a:r>
              <a:rPr>
                <a:solidFill>
                  <a:srgbClr val="7D9029"/>
                </a:solidFill>
                <a:latin typeface="Courier"/>
              </a:rPr>
              <a:t>            </a:t>
            </a:r>
            <a:r>
              <a:rPr b="1">
                <a:solidFill>
                  <a:srgbClr val="007020"/>
                </a:solidFill>
                <a:latin typeface="Courier"/>
              </a:rPr>
              <a:t>-</a:t>
            </a:r>
            <a:r>
              <a:rPr>
                <a:solidFill>
                  <a:srgbClr val="7D9029"/>
                </a:solidFill>
                <a:latin typeface="Courier"/>
              </a:rPr>
              <a:t> Path=/legacy/**</a:t>
            </a:r>
          </a:p>
          <a:p>
            <a:pPr lvl="0" indent="0" marL="0">
              <a:buNone/>
            </a:pPr>
            <a:r>
              <a:rPr i="1"/>
              <a:t>Il punto di partenza da completare</a:t>
            </a:r>
          </a:p>
          <a:p>
            <a:pPr lvl="0" indent="0" marL="0">
              <a:buNone/>
            </a:pPr>
            <a:r>
              <a:rPr i="1"/>
              <a:t>corsia SVILUPPO</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 corsia ops verifica lo split dall’esterno e ne certifica il comportamento.</a:t>
            </a:r>
          </a:p>
        </p:txBody>
      </p:sp>
      <p:sp>
        <p:nvSpPr>
          <p:cNvPr id="3" name="Content Placeholder 2"/>
          <p:cNvSpPr>
            <a:spLocks noGrp="1"/>
          </p:cNvSpPr>
          <p:nvPr>
            <p:ph idx="1"/>
          </p:nvPr>
        </p:nvSpPr>
        <p:spPr/>
        <p:txBody>
          <a:bodyPr/>
          <a:lstStyle/>
          <a:p>
            <a:pPr lvl="0" indent="-342900" marL="342900">
              <a:buAutoNum type="arabicPeriod"/>
            </a:pPr>
            <a:r>
              <a:rPr/>
              <a:t>Chiamare un path legacy</a:t>
            </a:r>
          </a:p>
          <a:p>
            <a:pPr lvl="0" indent="-342900" marL="342900">
              <a:buAutoNum type="arabicPeriod"/>
            </a:pPr>
            <a:r>
              <a:rPr/>
              <a:t>Chiamare un path nuovo</a:t>
            </a:r>
          </a:p>
          <a:p>
            <a:pPr lvl="0" indent="-342900" marL="342900">
              <a:buAutoNum type="arabicPeriod"/>
            </a:pPr>
            <a:r>
              <a:rPr/>
              <a:t>Chiamare un path inesistente</a:t>
            </a:r>
          </a:p>
          <a:p>
            <a:pPr lvl="0" indent="-342900" marL="342900">
              <a:buAutoNum type="arabicPeriod"/>
            </a:pPr>
            <a:r>
              <a:rPr/>
              <a:t>Riportare le tre risposte osservate</a:t>
            </a:r>
          </a:p>
          <a:p>
            <a:pPr lvl="0" indent="0" marL="0">
              <a:buNone/>
            </a:pPr>
            <a:r>
              <a:rPr i="1"/>
              <a:t>corsia OPS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 casi limite dello split si vedono solo chiamandolo da fuori.</a:t>
            </a:r>
          </a:p>
        </p:txBody>
      </p:sp>
      <p:sp>
        <p:nvSpPr>
          <p:cNvPr id="3" name="Content Placeholder 2"/>
          <p:cNvSpPr>
            <a:spLocks noGrp="1"/>
          </p:cNvSpPr>
          <p:nvPr>
            <p:ph idx="1"/>
          </p:nvPr>
        </p:nvSpPr>
        <p:spPr/>
        <p:txBody>
          <a:bodyPr/>
          <a:lstStyle/>
          <a:p>
            <a:pPr lvl="0"/>
            <a:r>
              <a:rPr/>
              <a:t>Priorità fra rotte sovrapposte</a:t>
            </a:r>
          </a:p>
          <a:p>
            <a:pPr lvl="0"/>
            <a:r>
              <a:rPr/>
              <a:t>Slash finale presente o assente</a:t>
            </a:r>
          </a:p>
          <a:p>
            <a:pPr lvl="0"/>
            <a:r>
              <a:rPr/>
              <a:t>Path che non corrisponde a nulla</a:t>
            </a:r>
          </a:p>
          <a:p>
            <a:pPr lvl="0"/>
            <a:r>
              <a:rPr/>
              <a:t>Chi risponde in caso di dubbio</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Rotta, predicato e filtro sono i tre soli pezzi dello split.</a:t>
            </a:r>
          </a:p>
        </p:txBody>
      </p:sp>
      <p:pic>
        <p:nvPicPr>
          <p:cNvPr descr="material/slides/out/build/session-01/mermaid/S1-U1.2-06.png" id="0" name="Picture 1"/>
          <p:cNvPicPr>
            <a:picLocks noGrp="1" noChangeAspect="1"/>
          </p:cNvPicPr>
          <p:nvPr/>
        </p:nvPicPr>
        <p:blipFill>
          <a:blip r:embed="rId3"/>
          <a:stretch>
            <a:fillRect/>
          </a:stretch>
        </p:blipFill>
        <p:spPr bwMode="auto">
          <a:xfrm>
            <a:off x="3429000" y="1549400"/>
            <a:ext cx="2286000" cy="2603500"/>
          </a:xfrm>
          <a:prstGeom prst="rect">
            <a:avLst/>
          </a:prstGeom>
          <a:noFill/>
          <a:ln w="9525">
            <a:noFill/>
            <a:headEnd/>
            <a:tailEnd/>
          </a:ln>
        </p:spPr>
      </p:pic>
      <p:sp>
        <p:nvSpPr>
          <p:cNvPr id="1" name="TextBox 3"/>
          <p:cNvSpPr txBox="1"/>
          <p:nvPr/>
        </p:nvSpPr>
        <p:spPr>
          <a:xfrm>
            <a:off x="457200" y="4152900"/>
            <a:ext cx="8229600" cy="508000"/>
          </a:xfrm>
          <a:prstGeom prst="rect">
            <a:avLst/>
          </a:prstGeom>
          <a:noFill/>
        </p:spPr>
        <p:txBody>
          <a:bodyPr/>
          <a:lstStyle/>
          <a:p>
            <a:pPr lvl="0" indent="0" marL="0" algn="ctr">
              <a:buNone/>
            </a:pPr>
            <a:r>
              <a:rPr/>
              <a:t>Come il gateway decide e poi trasforma</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Una seconda famiglia di path mette alla prova la regola appena capita.</a:t>
            </a:r>
          </a:p>
        </p:txBody>
      </p:sp>
      <p:sp>
        <p:nvSpPr>
          <p:cNvPr id="3" name="Content Placeholder 2"/>
          <p:cNvSpPr>
            <a:spLocks noGrp="1"/>
          </p:cNvSpPr>
          <p:nvPr>
            <p:ph idx="1"/>
          </p:nvPr>
        </p:nvSpPr>
        <p:spPr/>
        <p:txBody>
          <a:bodyPr/>
          <a:lstStyle/>
          <a:p>
            <a:pPr lvl="0" indent="0" marL="1270000">
              <a:buNone/>
            </a:pPr>
            <a:r>
              <a:rPr sz="2000"/>
              <a:t>Estendere l’instradamento a una seconda famiglia di path, decidendo dove collocarla rispetto alle rotte esistenti.</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Scegliete un approfondimento fra tre, se il tempo lo consente.</a:t>
            </a:r>
          </a:p>
        </p:txBody>
      </p:sp>
      <p:sp>
        <p:nvSpPr>
          <p:cNvPr id="3" name="Content Placeholder 2"/>
          <p:cNvSpPr>
            <a:spLocks noGrp="1"/>
          </p:cNvSpPr>
          <p:nvPr>
            <p:ph idx="1"/>
          </p:nvPr>
        </p:nvSpPr>
        <p:spPr/>
        <p:txBody>
          <a:bodyPr/>
          <a:lstStyle/>
          <a:p>
            <a:pPr lvl="0"/>
            <a:r>
              <a:rPr/>
              <a:t>Instradamento a pesi e canary</a:t>
            </a:r>
          </a:p>
          <a:p>
            <a:pPr lvl="0"/>
            <a:r>
              <a:rPr/>
              <a:t>Ingress GKE contro Gateway API</a:t>
            </a:r>
          </a:p>
          <a:p>
            <a:pPr lvl="0"/>
            <a:r>
              <a:rPr/>
              <a:t>Filtri di riscrittura del path</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Nella settimana che separa le due sessioni ogni corsia prepara la propria.</a:t>
            </a:r>
          </a:p>
        </p:txBody>
      </p:sp>
      <p:sp>
        <p:nvSpPr>
          <p:cNvPr id="3" name="Content Placeholder 2"/>
          <p:cNvSpPr>
            <a:spLocks noGrp="1"/>
          </p:cNvSpPr>
          <p:nvPr>
            <p:ph idx="1"/>
          </p:nvPr>
        </p:nvSpPr>
        <p:spPr/>
        <p:txBody>
          <a:bodyPr/>
          <a:lstStyle/>
          <a:p>
            <a:pPr lvl="0"/>
            <a:r>
              <a:rPr/>
              <a:t>Sviluppo: struttura di un token Entra ID</a:t>
            </a:r>
          </a:p>
          <a:p>
            <a:pPr lvl="0"/>
            <a:r>
              <a:rPr/>
              <a:t>Sviluppo: endpoint JWKS, a cosa serve</a:t>
            </a:r>
          </a:p>
          <a:p>
            <a:pPr lvl="0"/>
            <a:r>
              <a:rPr/>
              <a:t>Ops: collector ancora raggiungibile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[DRAFT] Sessione 1 — Mettere in piedi il gateway e rendere reale lo split strangler-fig</dc:title>
  <dc:creator>Spring Cloud Gateway per una migrazione strangler-fig su GKE</dc:creator>
  <cp:keywords/>
  <dcterms:created xsi:type="dcterms:W3CDTF">2026-07-28T14:57:43Z</dcterms:created>
  <dcterms:modified xsi:type="dcterms:W3CDTF">2026-07-28T14:57:43Z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Obiettivi G1, G2 e primo passaggio su G5</vt:lpwstr>
  </property>
</Properties>
</file>