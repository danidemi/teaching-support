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role: problem | goals: GOAL_004_NETWORK | timing_min: 3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[talk] Il container gira dentro la rete Docker isolata già vista in sessione 3
[links]: da lì deriva il bisogno di oggi, non ancora la soluzione.
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[why_here] Apre l'arco con il bisogno concreto, prima della sintassi: coerente con
l'approccio "hands-on first" richiesto da EDITORIAL_GUIDELINES.
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[links] Nasce dall'isolamento di rete già insegnato in sessione 3 (item 22-23,
PRQ-DOCKER-NETWORK).
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[watch_for] Pensare che il problema sia nel container (es. crash), quando è invece un
confine di rete non ancora attraversato. [inferred]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role: concept | goals: GOAL_004_NETWORK | timing_min: 6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[talk] Senza `-p` il container resta raggiungibile solo dentro la rete Docker isolata
già vista in sessione 3 [links]: `-p` è il meccanismo che attraversa quel confine
verso l'host. [inferred]
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[why_here] Chiarisce PRQ-PORT-MAPPING, prerequisito diretto di GOAL_004, prima
dell'esercitazione (item 26) e del checkpoint (item 27).
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[links] Si basa sulla rete Docker isolata insegnata in sessione 3 (item 22-23,
PRQ-DOCKER-NETWORK). Prepara l'esercitazione item 26 e il checkpoint item 27.
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[watch_for] Interpretare `host:container` al contrario, o pensare che la mappatura cambi
la porta interna su cui l'applicazione resta in ascolto nel container. [inferred]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role: concept | goals: GOAL_004_NETWORK | timing_min: 5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[talk] Il container non sa su quale porta host sia stato pubblicato: resta isolato
esattamente come già mostrato con PRQ-CONTAINER e PRQ-ISOLATION in sessione 1
[links]. È il daemon Docker, non un componente mostrato in figura, a fare la
traduzione — il meccanismo interno esatto non è nella nostra evidenza. [inferred]
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[why_here] Rende visibile la meccanica dietro il flag `-p` appena introdotto, prima di
passare alla verifica pratica.
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[links] Si appoggia sull'isolamento del container (sessione 1, item 5) e sulla rete
Docker (sessione 3, item 22-23).
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[watch_for] Credere che porta host e porta container debbano avere lo stesso numero. [inferred]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role: problem | goals: GOAL_004_NETWORK | timing_min: 4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[talk] Non anticipare la soluzione: il compito unisce due cose già viste separatamente
— la rete Docker (sessione 3) e la mappatura delle porte (questa slide, poco
fa) — la difficoltà tipica è capire quale delle due serve per quale metà del
problema.
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[why_here] È il checkpoint di DR-NETWORK/GOAL_004: chiude l'arco di rete apertosi in
sessione 3 e completato oggi con la mappatura delle porte.
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[links] Riunisce PRQ-DOCKER-NETWORK (sessione 3, item 22-23) e PRQ-PORT-MAPPING (item 25
di questa sessione); l'esercitazione guidata dell'item 26 precede questo
checkpoint.
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[watch_for] Confondere la raggiungibilità container-container (rete Docker) con la
raggiungibilità host-container (mappatura porte): sono due meccanismi diversi
richiesti entrambi dal compito. [inferred]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role: problem | goals: GOAL_005_VOLUME | timing_min: 3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[talk] Questo è lo stesso confine di filesystem già aperto in sessione 1 (EQ_1,
item 8) [links], mai chiuso finora: oggi lo si chiude con i volumi.
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[why_here] Apre l'arco con il bisogno concreto prima della sintassi, coerente con
l'approccio "hands-on first" di EDITORIAL_GUIDELINES.
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[links] Riprende la separazione filesystem host/container insegnata in sessione 1
(item 8, PRQ-FILESYSTEM), rimasta senza soluzione fino a oggi (EQ_1).
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[watch_for] Pensare che il dato sia "nel container" e quindi inevitabilmente perso, invece
che recuperabile spostandolo fuori dal container stesso. [inferred]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role: concept | goals: GOAL_005_VOLUME | timing_min: 5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[talk] Questa distinzione risponde infine a EQ_1, la domanda aperta in sessione 1
(item 8, PRQ-FILESYSTEM) su come far leggere/scrivere a un container un file
che sta sul computer host [links].
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[why_here] Chiarisce PRQ-VOLUME-MOUNT, prerequisito di GOAL_005, prima di mostrarne la
sintassi concreta.
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[links] Risponde alla domanda EQ_1 aperta in sessione 1 (item 8, separazione tra
filesystem host e container).
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[watch_for] Pensare che uno dei due meccanismi sia sempre "meglio" dell'altro, invece di
una scelta legata a dove deve vivere il dato. [inferred]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role: concept | goals: GOAL_005_VOLUME | timing_min: 6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[talk] L'unica differenza sintattica tra le ultime due righe è cosa sta a sinistra dei
due punti: un nome di volume o un percorso assoluto dell'host — tutto il resto
del comando resta identico.
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[why_here] Dà l'evidenza concreta dietro il confronto appena presentato (slide precedente).
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[links] Si basa sulla sintassi da riga di comando già usata per costruire immagini
(sessione 2, item 14-15).
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[watch_for] Dimenticare che un volume anonimo può essere creato implicitamente al primo
`docker run -v`, senza un `docker volume create` esplicito. [inferred]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role: concept | goals: GOAL_005_VOLUME | timing_min: 5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[talk] Questa è la stessa distinzione che il docente mostra dal vivo nella demo
(item 30 di questa sessione): non la si ri-mette in scena qui, la si fissa in
un'immagine.
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[why_here] Fa da evidenza visiva prima del checkpoint sulla persistenza dei dati.
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[links] Illustra la demo del docente (item 30 di questa sessione).
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[watch_for] Credere che il volume "viva dentro" il container, invece che in un'area gestita
da Docker esterna al filesystem del container. [inferred]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role: problem | goals: GOAL_005_VOLUME | timing_min: 4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[talk] Non anticipare la procedura: il compito richiede di scegliere il meccanismo
giusto tra quelli appena visti e dimostrare che il dato resta dopo un riavvio.
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[why_here] È il checkpoint di DR-VOLUME/GOAL_005: chiude la domanda EQ_1 aperta in
sessione 1 e la meccanica vista in questa sessione.
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[links] Chiude la domanda EQ_1 (sessione 1, item 8). Volumi e mappatura delle porte di
questa sessione torneranno nella sintassi di Docker Compose (sessione 6), senza
bisogno di essere ri-spiegati da capo.
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[watch_for] Risolvere con un bind mount quando un volume nominato è la scelta più diretta,
o viceversa — chiarire che entrambi contano se il dato persiste al riavvio. [inferred]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37744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1A1A1A"/>
                </a:solidFill>
                <a:latin typeface="Calibri"/>
              </a:rPr>
              <a:t>Porte, rete tra container e persistenza dei dati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206240"/>
            <a:ext cx="11094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5A5A5A"/>
                </a:solidFill>
                <a:latin typeface="Calibri"/>
              </a:rPr>
              <a:t>Docker: dai container ai sistemi multi-servizio (corso ITS, primo anno) — Sessione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A1A1A"/>
                </a:solidFill>
                <a:latin typeface="Calibri"/>
              </a:rPr>
              <a:t>Mappatura delle porte e chiusura dell'arco di rete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A1A1A"/>
                </a:solidFill>
                <a:latin typeface="Calibri"/>
              </a:rPr>
              <a:t>Un container in esecuzione non risponde se lo si contatta dal browser dell'host.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1">
                <a:solidFill>
                  <a:srgbClr val="1A1A1A"/>
                </a:solidFill>
                <a:latin typeface="Calibri"/>
              </a:rPr>
              <a:t>“Il container è in ascolto, ma dall'host la richiesta non arriva.”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A1A1A"/>
                </a:solidFill>
                <a:latin typeface="Calibri"/>
              </a:rPr>
              <a:t>Il flag `-p host:container` pubblica una porta del container sull'host.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5A5A5A"/>
                </a:solidFill>
                <a:latin typeface="Calibri"/>
              </a:rPr>
              <a:t>Sintassi `-p host:container` [stated]; valori 8080/80 e immagine nginx sono un esempio [invented framing]</a:t>
            </a:r>
          </a:p>
          <a:p>
            <a:r>
              <a:rPr sz="1600" b="0" i="0">
                <a:solidFill>
                  <a:srgbClr val="1A1A1A"/>
                </a:solidFill>
                <a:latin typeface="Consolas"/>
              </a:rPr>
              <a:t>docker run -d -p 8080:80 nginx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A1A1A"/>
                </a:solidFill>
                <a:latin typeface="Calibri"/>
              </a:rPr>
              <a:t>La richiesta del client raggiunge la porta host, che Docker traduce nella porta del container.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pic>
        <p:nvPicPr>
          <p:cNvPr id="4" name="Picture 3" descr="S4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851356"/>
            <a:ext cx="11094415" cy="10638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39496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>
                <a:solidFill>
                  <a:srgbClr val="5A5A5A"/>
                </a:solidFill>
                <a:latin typeface="Calibri"/>
              </a:rPr>
              <a:t>Percorso di una richiesta attraverso la mappatura delle porte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A1A1A"/>
                </a:solidFill>
                <a:latin typeface="Calibri"/>
              </a:rPr>
              <a:t>L'esercitazione verifica se sai collegare due container in rete e renderne uno raggiungibile dall'host.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1">
                <a:solidFill>
                  <a:srgbClr val="1A1A1A"/>
                </a:solidFill>
                <a:latin typeface="Calibri"/>
              </a:rPr>
              <a:t>“Collegare due container in rete e rendere un servizio raggiungibile dall'host.”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A1A1A"/>
                </a:solidFill>
                <a:latin typeface="Calibri"/>
              </a:rPr>
              <a:t>Volumi e bind mount: persistenza dei dati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A1A1A"/>
                </a:solidFill>
                <a:latin typeface="Calibri"/>
              </a:rPr>
              <a:t>I dati scritti da un container spariscono quando lo si ricrea.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1">
                <a:solidFill>
                  <a:srgbClr val="1A1A1A"/>
                </a:solidFill>
                <a:latin typeface="Calibri"/>
              </a:rPr>
              <a:t>“Il container viene distrutto e ricreato: dov'è finito il dato scritto prima?”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A1A1A"/>
                </a:solidFill>
                <a:latin typeface="Calibri"/>
              </a:rPr>
              <a:t>Un volume è gestito da Docker; un bind mount punta a un percorso arbitrario dell'host.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 i="0">
                <a:solidFill>
                  <a:srgbClr val="1A1A1A"/>
                </a:solidFill>
                <a:latin typeface="Calibri"/>
              </a:rPr>
              <a:t>•  Volume: area gestita da Docker</a:t>
            </a:r>
          </a:p>
          <a:p>
            <a:r>
              <a:rPr sz="2200" b="0" i="0">
                <a:solidFill>
                  <a:srgbClr val="1A1A1A"/>
                </a:solidFill>
                <a:latin typeface="Calibri"/>
              </a:rPr>
              <a:t>•  Bind mount: percorso arbitrario dell'host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A1A1A"/>
                </a:solidFill>
                <a:latin typeface="Calibri"/>
              </a:rPr>
              <a:t>La sintassi `-v` collega un percorso nel container a un volume o a una cartella host.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5A5A5A"/>
                </a:solidFill>
                <a:latin typeface="Calibri"/>
              </a:rPr>
              <a:t>Sintassi `-v nomevolume:/percorso` e bind mount su percorso host [stated]; nomi di volume, percorsi e immagine sono un esempio [invented framing]</a:t>
            </a:r>
          </a:p>
          <a:p>
            <a:r>
              <a:rPr sz="1600" b="0" i="0">
                <a:solidFill>
                  <a:srgbClr val="1A1A1A"/>
                </a:solidFill>
                <a:latin typeface="Consolas"/>
              </a:rPr>
              <a:t>docker volume create dati</a:t>
            </a:r>
          </a:p>
          <a:p>
            <a:r>
              <a:rPr sz="1600" b="0" i="0">
                <a:solidFill>
                  <a:srgbClr val="1A1A1A"/>
                </a:solidFill>
                <a:latin typeface="Consolas"/>
              </a:rPr>
              <a:t>docker run -v dati:/var/lib/app/data nginx</a:t>
            </a:r>
          </a:p>
          <a:p>
            <a:r>
              <a:rPr sz="1600" b="0" i="0">
                <a:solidFill>
                  <a:srgbClr val="1A1A1A"/>
                </a:solidFill>
                <a:latin typeface="Consolas"/>
              </a:rPr>
              <a:t>docker run -v /home/utente/dati:/var/lib/app/data nginx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A1A1A"/>
                </a:solidFill>
                <a:latin typeface="Calibri"/>
              </a:rPr>
              <a:t>Volume e bind mount collegano lo stesso punto del container a due posizioni diverse sull'host.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pic>
        <p:nvPicPr>
          <p:cNvPr id="4" name="Picture 3" descr="S4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142210"/>
            <a:ext cx="11094415" cy="24821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39496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>
                <a:solidFill>
                  <a:srgbClr val="5A5A5A"/>
                </a:solidFill>
                <a:latin typeface="Calibri"/>
              </a:rPr>
              <a:t>Stesso punto di mount nel container, due destinazioni diverse sull'host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A1A1A"/>
                </a:solidFill>
                <a:latin typeface="Calibri"/>
              </a:rPr>
              <a:t>L'esercitazione verifica se i dati di un container sopravvivono al suo riavvio.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1">
                <a:solidFill>
                  <a:srgbClr val="1A1A1A"/>
                </a:solidFill>
                <a:latin typeface="Calibri"/>
              </a:rPr>
              <a:t>“Rendere persistenti i dati di un container attraverso un volume.”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