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menu | goals: GOAL_007_COMPLEX_SYSTEM | timing_min: 3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[inferred] Il grosso del completamento del progetto è già stato fatto extra-aula
(fino a 20 ore previste da LOGISTICS per l'intero corso): questi 45 minuti sono
per rifiniture, non per iniziare da zero.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[stated] Apre la sessione conclusiva del corso: chiarisce da subito che oggi si
passa dal lavoro di gruppo alla verifica individuale, per gestire l'ansia da esame.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[stated] Il progetto è stato avviato in sessione 7, item 52 ("Avvio del progetto
finale di gruppo") e proseguito extra-aula; qui si conclude. Nessun rimando in
avanti: sessione 8 è l'ultima del corso.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[inferred] Alcuni gruppi potrebbero non aver completato il lavoro extra-aula: il
trainer valuta in apertura chi ha bisogno di più tempo per le rifiniture rispetto a
chi è già pronto per l'esame.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recap | goals: GOAL_005_VOLUME, GOAL_006_COMPOSE, GOAL_007_COMPLEX_SYSTEM | timing_min: 5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[inferred] Questo è lo schema generico, non necessariamente la topologia esatta di
ogni gruppo: ogni progetto ha scelto i propri servizi in base al requisito assegnato
in sessione 5, item 40.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[stated] Richiama la topologia già progettata (sessione 5) e già costruita in forma
guidata (sessione 7, item 50) prima di chiedere ai gruppi di completarla e
rifinirla oggi, senza re-insegnare Compose o le reti Docker.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[stated] Costruisce su: progettazione della topologia (sessione 5, item 40),
sintassi Compose avanzata (sessione 6, item 45-46), laboratorio guidato multi-servizio
con repliche (sessione 7, item 48-50). Nessun rimando in avanti: sessione 8 è
l'ultima del corso.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[inferred] Un errore tipico a questo punto è confondere "il sistema parte" con "il
sistema funziona secondo la topologia richiesta": verificare che ogni servizio
comunichi con quello giusto, non solo che nessun container sia in errore.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concept | goals: GOAL_005_VOLUME, GOAL_006_COMPOSE, GOAL_007_COMPLEX_SYSTEM | timing_min: 4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[invented framing] La slide presenta la scala come "quanto è completo il sistema",
non come voto — questa reformulazione è una scelta di questo autore, non un dato dello
store. [stated] Per il trainer: GOALS lega questi quattro gradini, insieme alle due
prove orali, alla determinazione del voto finale (18-30); questo collegamento va
detto a voce se utile, non scritto su una slide condivisa con gli studenti.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[stated] Dà ai gruppi un criterio concreto per capire dove si trova il proprio
progetto e cosa rifinire prima dell'esame, senza rivelare come questo si traduce nel
voto finale.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[stated] Riprende direttamente GOALS (sezione Verifica) e i contenuti già insegnati:
persistenza (sessione 4), Compose base e avanzato (sessioni 6-7), repliche
(sessione 7, item 48-49).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[inferred] Fraintendimento tipico a questo punto: leggere la scala come "livello 4 o
fallito", scoraggiandosi, oppure assumere che il livello 1 (minimo funzionante)
basti già a superare l'esame.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menu | goals: GOAL_001_LIFECYCLE, GOAL_002_IMAGE_BUILD, GOAL_003_IMAGE_DISTRIBUTE, GOAL_004_NETWORK, GOAL_005_VOLUME, GOAL_006_COMPOSE, GOAL_007_COMPLEX_SYSTEM, GOAL_008_TROUBLESHOOTING | timing_min: 3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[stated] Le prime due prove sono per ciascuno dei 15 studenti singolarmente, anche
se il progetto è di gruppo: ognuno deve dimostrare la propria comprensione, non solo
quella del gruppo. [risk] Per il trainer, non per lo schermo: con 15 studenti e ~8
minuti a testa per le due prove individuali, il tempo d'aula stimato è stretto
(~160 minuti totali); se le prove richiedono più tempo l'esame può sforare l'orario
previsto da LOGISTICS.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[stated] Capstone finale su tutti gli obiettivi del corso (GOAL_001-GOAL_008):
questa slide annuncia il formato prima di iniziare, così ogni studente sa cosa
aspettarsi.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[stated] Le due prove individuali sono preparate da tutto il corso: il ciclo di
vita del container e la costruzione dell'immagine (sessioni 1-2), rete e volumi
(sessioni 3-4), il ragionamento diagnostico per ipotesi già esercitato in sessione 5
(item 35-37) e in sessione 7 (item 51) su un sistema multi-servizio realistico.
Nessun rimando in avanti: sessione 8 è l'ultima del corso.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[inferred] Fraintendimento tipico: aspettarsi che una presentazione di gruppo forte
"copra" anche uno studente che non sa rispondere individualmente — le due prove
successive sono strettamente individuali, non mediate dal gruppo.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concept | goals: GOAL_001_LIFECYCLE, GOAL_002_IMAGE_BUILD, GOAL_006_COMPOSE, GOAL_007_COMPLEX_SYSTEM | timing_min: 4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[stated] Questa prova esiste per distinguere chi ha davvero capito il proprio
sistema da chi ha seguito un tutorial senza comprenderlo: la modifica richiesta
userà comandi e concetti già visti nel corso, non contenuto nuovo. [risk] Per il
trainer, non per lo schermo: GOALS dichiara questa prova condizione per superare
l'esame indipendentemente dagli altri criteri — dirlo a voce se utile, non scriverlo
su una slide condivisa con gli studenti.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[stated] GOALS descrive questa prova come condizione dichiarata per superare
l'esame: la slide annuncia cosa viene verificato, non la soglia di superamento né
le conseguenze di un esito negativo, che restano riservate al trainer.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[stated] Richiama tutte le competenze pratiche del corso: comandi CLI (sessione 2),
costruzione immagine (sessione 2), Compose (sessioni 6-7). Nessun rimando in avanti:
sessione 8 è l'ultima del corso.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[inferred] Fraintendimento tipico: aspettarsi una modifica del tutto nuova o non
vista nel corso, invece di una ricombinazione di comandi e concetti già praticati.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concept | goals: GOAL_008_TROUBLESHOOTING | timing_min: 3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[stated] Non è richiesto riprodurre il malfunzionamento dal vivo: basta indicare
almeno un'ipotesi plausibile sulla causa e come la verificheresti, lo stesso schema
già esercitato in sessione 5 e in sessione 7. [risk] Per il trainer, non per lo
schermo: non anticipare qui né a voce il tipo di malfunzionamento usato in sede
d'esame, vanificherebbe la prova per tutta la classe.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[stated] Ultima verifica del corso su GOAL_008: la slide annuncia il formato della
prova (situazione teorica, non live) senza rivelare la situazione stessa né i
criteri con cui l'ipotesi verrà giudicata plausibile.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[stated] Costruisce su: strumenti di diagnosi e ragionamento per ipotesi (sessione
5, item 33-37) e sul rinforzo su un sistema multi-servizio realistico (sessione 7,
item 51). Nessun rimando in avanti: sessione 8 è l'ultima del corso.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[inferred] Fraintendimento tipico: aspettarsi di dover riprodurre e risolvere il
malfunzionamento dal vivo, invece di limitarsi a formulare e argomentare un'ipotesi.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A1A1A"/>
                </a:solidFill>
                <a:latin typeface="Calibri"/>
              </a:rPr>
              <a:t>Completamento del progetto finale ed esame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20624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A5A5A"/>
                </a:solidFill>
                <a:latin typeface="Calibri"/>
              </a:rPr>
              <a:t>Docker: dai container ai sistemi multi-servizio (corso ITS, primo anno) — Sessione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1A1A"/>
                </a:solidFill>
                <a:latin typeface="Calibri"/>
              </a:rPr>
              <a:t>Completamento e messa a punto del progetto finale di gruppo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Questa lezione chiude il progetto e poi lo verifica con un esame orale individuale.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1A1A1A"/>
                </a:solidFill>
                <a:latin typeface="Calibri"/>
              </a:rPr>
              <a:t>1. Ultime rifiniture al progetto in aula</a:t>
            </a:r>
          </a:p>
          <a:p>
            <a:r>
              <a:rPr sz="2200" b="0" i="0">
                <a:solidFill>
                  <a:srgbClr val="1A1A1A"/>
                </a:solidFill>
                <a:latin typeface="Calibri"/>
              </a:rPr>
              <a:t>2. Esame orale: presentazione, manualità, troubleshooting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Il progetto finale riunisce applicazione, database e servizio mock in un'unica topologia con repliche.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4" name="Picture 3" descr="S8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207" y="1463040"/>
            <a:ext cx="795528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3949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A5A5A"/>
                </a:solidFill>
                <a:latin typeface="Calibri"/>
              </a:rPr>
              <a:t>Topologia tipo del progetto finale (esempio generico) — SMTP: Simple Mail Transfer Protocol, protocollo per l'invio di email
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Un progetto è tanto più completo quanti più di questi comportamenti copre, in ordine crescente.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1A1A1A"/>
                </a:solidFill>
                <a:latin typeface="Calibri"/>
              </a:rPr>
              <a:t>1. Funziona, senza persistenza dei dati</a:t>
            </a:r>
          </a:p>
          <a:p>
            <a:r>
              <a:rPr sz="2200" b="0" i="0">
                <a:solidFill>
                  <a:srgbClr val="1A1A1A"/>
                </a:solidFill>
                <a:latin typeface="Calibri"/>
              </a:rPr>
              <a:t>2. Funziona, con persistenza (es. volume su database)</a:t>
            </a:r>
          </a:p>
          <a:p>
            <a:r>
              <a:rPr sz="2200" b="0" i="0">
                <a:solidFill>
                  <a:srgbClr val="1A1A1A"/>
                </a:solidFill>
                <a:latin typeface="Calibri"/>
              </a:rPr>
              <a:t>3. Funziona, con servizio aggiuntivo (es. mock SMTP)</a:t>
            </a:r>
          </a:p>
          <a:p>
            <a:r>
              <a:rPr sz="2200" b="0" i="0">
                <a:solidFill>
                  <a:srgbClr val="1A1A1A"/>
                </a:solidFill>
                <a:latin typeface="Calibri"/>
              </a:rPr>
              <a:t>4. Funziona, con più repliche di un servizio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1A1A"/>
                </a:solidFill>
                <a:latin typeface="Calibri"/>
              </a:rPr>
              <a:t>Esame orale finale: presentazione, prova di manualità, prova di troubleshooting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L'esame ha tre parti in questo ordine: presentazione, prova di manualità, prova di troubleshooting.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1A1A1A"/>
                </a:solidFill>
                <a:latin typeface="Calibri"/>
              </a:rPr>
              <a:t>1. Presentazione di gruppo del progetto</a:t>
            </a:r>
          </a:p>
          <a:p>
            <a:r>
              <a:rPr sz="2200" b="0" i="0">
                <a:solidFill>
                  <a:srgbClr val="1A1A1A"/>
                </a:solidFill>
                <a:latin typeface="Calibri"/>
              </a:rPr>
              <a:t>2. Prova individuale di manualità</a:t>
            </a:r>
          </a:p>
          <a:p>
            <a:r>
              <a:rPr sz="2200" b="0" i="0">
                <a:solidFill>
                  <a:srgbClr val="1A1A1A"/>
                </a:solidFill>
                <a:latin typeface="Calibri"/>
              </a:rPr>
              <a:t>3. Prova individuale di troubleshooting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La prova di manualità verifica che tu sappia modificare dal vivo il tuo progetto, non solo eseguirlo.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1A1A1A"/>
                </a:solidFill>
                <a:latin typeface="Calibri"/>
              </a:rPr>
              <a:t>“La modifica richiesta è sul tuo progetto specifico, individualmente: non su un esempio generico condiviso.”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La prova di troubleshooting verifica che tu sappia formulare un'ipotesi plausibile su un malfunzionamento.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1A1A1A"/>
                </a:solidFill>
                <a:latin typeface="Calibri"/>
              </a:rPr>
              <a:t>“Ti verrà presentata una situazione teorica di malfunzionamento da diagnosticare.”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