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GOAL_001_LIFECYCLE | timing_min: 6</a:t>
            </a:r>
          </a:p>
          <a:p>
            <a:r>
              <a:rPr sz="1200" b="0" i="0">
                <a:solidFill>
                  <a:srgbClr val="1A1A1A"/>
                </a:solidFill>
                <a:latin typeface="Calibri"/>
              </a:rPr>
              <a:t>[talk] `docker run`, `docker ps` e `docker stop` sono già stati eseguiti dal vivo nella sessione 1
(demo S1-06) [stated, da CURRICULUM sequence 6]: qui non si insegnano da zero, si nominano
come le due transizioni del ciclo di vita, per dare loro una cornice esplicita che prima non
avevano. La novità di questa sessione è la lettura e l'interpretazione dell'esito di questi
comandi (PRQ-CLI-BASICS: "capire cosa restituisce ciascun comando e come interpretarlo"),
non l'esecuzione in sé. [stated, da DESIGN]
</a:t>
            </a:r>
          </a:p>
          <a:p>
            <a:r>
              <a:rPr sz="1200" b="0" i="0">
                <a:solidFill>
                  <a:srgbClr val="1A1A1A"/>
                </a:solidFill>
                <a:latin typeface="Calibri"/>
              </a:rPr>
              <a:t>[why_here] Apre la sessione richiamando ciò che la sessione 1 ha già mostrato in demo, prima di
aggiungere logs ed exec come strumenti di osservazione (S2-02). [stated]
</a:t>
            </a:r>
          </a:p>
          <a:p>
            <a:r>
              <a:rPr sz="1200" b="0" i="0">
                <a:solidFill>
                  <a:srgbClr val="1A1A1A"/>
                </a:solidFill>
                <a:latin typeface="Calibri"/>
              </a:rPr>
              <a:t>[links] Richiama esplicitamente la demo S1-06 (sessione 1, sequence 6): "run/ps/stop" non sono
contenuto nuovo qui. Si appoggia anche su S1-14 (il segnale che `docker stop` invia al
processo) [stated, da DESIGN, edge PRQ-CLI-BASICS → PRQ-PROCESS-MODEL].
</a:t>
            </a:r>
          </a:p>
          <a:p>
            <a:r>
              <a:rPr sz="1200" b="0" i="0">
                <a:solidFill>
                  <a:srgbClr val="1A1A1A"/>
                </a:solidFill>
                <a:latin typeface="Calibri"/>
              </a:rPr>
              <a:t>[watch_for] Chi ha già usato Docker (BSL-DOCKER-PRIOR [risk]) potrebbe considerare questo diagramma
banale: sposta l'attenzione sul fatto che il diagramma da solo non basta a diagnosticare
un container — serve interpretare l'esito dei comandi, competenza verificata nel checkpoint
di questo stesso segmento. [inferred]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GOAL_001_LIFECYCLE | timing_min: 7</a:t>
            </a:r>
          </a:p>
          <a:p>
            <a:r>
              <a:rPr sz="1200" b="0" i="0">
                <a:solidFill>
                  <a:srgbClr val="1A1A1A"/>
                </a:solidFill>
                <a:latin typeface="Calibri"/>
              </a:rPr>
              <a:t>[talk] `docker logs` restituisce lo standard output (stdout, canale di uscita standard) del
processo del container: il
collegamento con il modello dei processi visto in sessione 1 (S1-11) va reso esplicito qui,
non è ovvio per chi vede questi comandi per la prima volta. `docker exec` è invece un
comando nuovo rispetto alla demo di sessione 1: apre un secondo processo dentro lo stesso
container.
</a:t>
            </a:r>
          </a:p>
          <a:p>
            <a:r>
              <a:rPr sz="1200" b="0" i="0">
                <a:solidFill>
                  <a:srgbClr val="1A1A1A"/>
                </a:solidFill>
                <a:latin typeface="Calibri"/>
              </a:rPr>
              <a:t>[why_here] Nodo PRQ-CLI-BASICS dichiarato [stated] in DESIGN; questa slide copre la parte
dell'interpretazione dell'esito dei comandi, complemento diretto della slide precedente
che copre solo le due transizioni di stato.
</a:t>
            </a:r>
          </a:p>
          <a:p>
            <a:r>
              <a:rPr sz="1200" b="0" i="0">
                <a:solidFill>
                  <a:srgbClr val="1A1A1A"/>
                </a:solidFill>
                <a:latin typeface="Calibri"/>
              </a:rPr>
              <a:t>[links] Si appoggia su S1-11 (stdout) e S1-14 (segnale di `docker stop`), entrambe della sessione 1
[stated, da DESIGN, edge PRQ-CLI-BASICS → PRQ-PROCESS-MODEL]. Logs ed exec ricompaiono in
sessione 5, dedicata alla diagnosi di un malfunzionamento, senza anticiparne qui il
contenuto.
</a:t>
            </a:r>
          </a:p>
          <a:p>
            <a:r>
              <a:rPr sz="1200" b="0" i="0">
                <a:solidFill>
                  <a:srgbClr val="1A1A1A"/>
                </a:solidFill>
                <a:latin typeface="Calibri"/>
              </a:rPr>
              <a:t>[watch_for] Un errore comune è confondere `docker logs` (l'output già scritto) con `docker exec`
(un'azione nuova, eseguita ora): rendi esplicita la differenza tra "guardare cosa è già
successo" e "fare succedere qualcosa in più". [inferred]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problem | goals: GOAL_001_LIFECYCLE | timing_min: 3</a:t>
            </a:r>
          </a:p>
          <a:p>
            <a:r>
              <a:rPr sz="1200" b="0" i="0">
                <a:solidFill>
                  <a:srgbClr val="1A1A1A"/>
                </a:solidFill>
                <a:latin typeface="Calibri"/>
              </a:rPr>
              <a:t>[talk] Non anticipare la risposta a nessuna delle quattro domande: sono esattamente ciò che il
checkpoint di sequence 12 (DR-LIFECYCLE) verifica. Ricorda solo quali comandi delle due
slide precedenti servono a rispondere a ciascuna, senza applicarli qui a un caso concreto.
</a:t>
            </a:r>
          </a:p>
          <a:p>
            <a:r>
              <a:rPr sz="1200" b="0" i="0">
                <a:solidFill>
                  <a:srgbClr val="1A1A1A"/>
                </a:solidFill>
                <a:latin typeface="Calibri"/>
              </a:rPr>
              <a:t>[why_here] Corrisponde a sequence 12, checkpoint su GOAL_001_LIFECYCLE: CURRICULUM annota
esplicitamente che verifica "che lo studente sappia usare run/ps/stop/logs/exec per capire
lo stato di un container, non solo eseguirli meccanicamente". [stated]
</a:t>
            </a:r>
          </a:p>
          <a:p>
            <a:r>
              <a:rPr sz="1200" b="0" i="0">
                <a:solidFill>
                  <a:srgbClr val="1A1A1A"/>
                </a:solidFill>
                <a:latin typeface="Calibri"/>
              </a:rPr>
              <a:t>[links] Chiude l'arco apertosi con S2-01/S2-02. L'esercitazione stessa (sequence 12) è già
schedulata come proprio item CURRICULUM: questa slide la introduce, non la sostituisce.
</a:t>
            </a:r>
          </a:p>
          <a:p>
            <a:r>
              <a:rPr sz="1200" b="0" i="0">
                <a:solidFill>
                  <a:srgbClr val="1A1A1A"/>
                </a:solidFill>
                <a:latin typeface="Calibri"/>
              </a:rPr>
              <a:t>[watch_for] Non indicare qui la soglia di superamento del checkpoint né un esempio di risposta corretta
— regola di controllo-accesso di questo ruolo, slide condivisa con la classe. [stated, da
material_authoring_rules.md]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GOAL_002_IMAGE_BUILD, EU_3 | timing_min: 6</a:t>
            </a:r>
          </a:p>
          <a:p>
            <a:r>
              <a:rPr sz="1200" b="0" i="0">
                <a:solidFill>
                  <a:srgbClr val="1A1A1A"/>
                </a:solidFill>
                <a:latin typeface="Calibri"/>
              </a:rPr>
              <a:t>[talk] Collega esplicitamente a S1-07 (sessione 1): lì "immagine" era solo un concetto ("si crea, si
versiona, si distribuisce"), qui si mostra finalmente con cosa si crea per davvero — un
Dockerfile. Non introdurre ancora la sintassi delle singole istruzioni: questa slide resta
sul rapporto ricetta → immagine → container.
</a:t>
            </a:r>
          </a:p>
          <a:p>
            <a:r>
              <a:rPr sz="1200" b="0" i="0">
                <a:solidFill>
                  <a:srgbClr val="1A1A1A"/>
                </a:solidFill>
                <a:latin typeface="Calibri"/>
              </a:rPr>
              <a:t>[why_here] Nodo PRQ-DOCKERFILE dichiarato [stated] in DESIGN, con edge esplicito verso
PRQ-IMAGE-CONCEPT ("un Dockerfile è la ricetta per produrre un'immagine, quindi presuppone
di sapere cos'è un'immagine").
</a:t>
            </a:r>
          </a:p>
          <a:p>
            <a:r>
              <a:rPr sz="1200" b="0" i="0">
                <a:solidFill>
                  <a:srgbClr val="1A1A1A"/>
                </a:solidFill>
                <a:latin typeface="Calibri"/>
              </a:rPr>
              <a:t>[links] Richiama S1-07 e S1-08 (sessione 1, concetto di immagine) senza re-insegnarli. Prepara
PRQ-REGISTRY (sessione 3), dove l'immagine appena costruita verrà pubblicata — nome della
sessione richiamato senza anticiparne il contenuto.
</a:t>
            </a:r>
          </a:p>
          <a:p>
            <a:r>
              <a:rPr sz="1200" b="0" i="0">
                <a:solidFill>
                  <a:srgbClr val="1A1A1A"/>
                </a:solidFill>
                <a:latin typeface="Calibri"/>
              </a:rPr>
              <a:t>[watch_for] Non lasciare l'impressione che "immagine" e "Dockerfile" siano sinonimi: il Dockerfile è il
sorgente testuale, l'immagine è il prodotto della build. [inferred]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GOAL_002_IMAGE_BUILD | timing_min: 8</a:t>
            </a:r>
          </a:p>
          <a:p>
            <a:r>
              <a:rPr sz="1200" b="0" i="0">
                <a:solidFill>
                  <a:srgbClr val="1A1A1A"/>
                </a:solidFill>
                <a:latin typeface="Calibri"/>
              </a:rPr>
              <a:t>[talk] Spiega ciascuna riga collegandola a un'idea già vista: FROM parte da un'immagine di base
(S1-08: un'immagine può essere il punto di partenza per crearne un'altra); COPY porta file
dal filesystem dell'host dentro quello del container (richiama S1-09, sessione 1, la
separazione tra i due filesystem, senza risolvere qui la domanda EQ_1 lasciata aperta in
S1-10); RUN esegue un comando durante la build; CMD è il comando che parte quando nasce il
container.
</a:t>
            </a:r>
          </a:p>
          <a:p>
            <a:r>
              <a:rPr sz="1200" b="0" i="0">
                <a:solidFill>
                  <a:srgbClr val="1A1A1A"/>
                </a:solidFill>
                <a:latin typeface="Calibri"/>
              </a:rPr>
              <a:t>[why_here] Sintassi dichiarata in CURRICULUM per sequence 14 (FROM, COPY, RUN, CMD) e in DESIGN come
"sintassi e istruzioni standard di un Dockerfile ... necessarie per costruire un'immagine
che esegua correttamente l'applicazione target". [stated]
</a:t>
            </a:r>
          </a:p>
          <a:p>
            <a:r>
              <a:rPr sz="1200" b="0" i="0">
                <a:solidFill>
                  <a:srgbClr val="1A1A1A"/>
                </a:solidFill>
                <a:latin typeface="Calibri"/>
              </a:rPr>
              <a:t>[links] L'esempio concreto (Node.js) è una scelta di questo deck, non del corso: nessuno store
specifica l'applicazione target di questa sessione, vedi instructional_decisions.
[invented framing]
</a:t>
            </a:r>
          </a:p>
          <a:p>
            <a:r>
              <a:rPr sz="1200" b="0" i="0">
                <a:solidFill>
                  <a:srgbClr val="1A1A1A"/>
                </a:solidFill>
                <a:latin typeface="Calibri"/>
              </a:rPr>
              <a:t>[watch_for] COPY presuppone che gli studenti sappiano già navigare il filesystem da shell (BSL-SHELL):
se qualcuno fatica ancora con percorsi relativi, è il momento di richiamarlo esplicitamente,
non di darlo per scontato. [inferred]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concept | goals: GOAL_002_IMAGE_BUILD | timing_min: 6</a:t>
            </a:r>
          </a:p>
          <a:p>
            <a:r>
              <a:rPr sz="1200" b="0" i="0">
                <a:solidFill>
                  <a:srgbClr val="1A1A1A"/>
                </a:solidFill>
                <a:latin typeface="Calibri"/>
              </a:rPr>
              <a:t>[talk] Introduce la demo dal vivo di sequence 15: il docente costruisce davvero un'immagine dal
Dockerfile della slide precedente e la esegue, commentando l'output della build e ciò che
succede se manca un file o un comando. `app` è un nome scelto solo per l'esempio
[invented framing], nessuno store ne prescrive uno specifico, come già per `web`/`nginx`
nella demo di sessione 1 (S1-06).
</a:t>
            </a:r>
          </a:p>
          <a:p>
            <a:r>
              <a:rPr sz="1200" b="0" i="0">
                <a:solidFill>
                  <a:srgbClr val="1A1A1A"/>
                </a:solidFill>
                <a:latin typeface="Calibri"/>
              </a:rPr>
              <a:t>[why_here] Corrisponde a sequence 15, dichiarata in CURRICULUM come "il docente scrive e costruisce
un'immagine da un Dockerfile dal vivo". [stated]
</a:t>
            </a:r>
          </a:p>
          <a:p>
            <a:r>
              <a:rPr sz="1200" b="0" i="0">
                <a:solidFill>
                  <a:srgbClr val="1A1A1A"/>
                </a:solidFill>
                <a:latin typeface="Calibri"/>
              </a:rPr>
              <a:t>[links] Richiama esplicitamente S2-05 (lo stesso Dockerfile, ora costruito per davvero) e S1-06
(stessa forma di demo dal vivo, sessione 1).
</a:t>
            </a:r>
          </a:p>
          <a:p>
            <a:r>
              <a:rPr sz="1200" b="0" i="0">
                <a:solidFill>
                  <a:srgbClr val="1A1A1A"/>
                </a:solidFill>
                <a:latin typeface="Calibri"/>
              </a:rPr>
              <a:t>[watch_for] Mostra almeno un errore di build realistico (es. un file mancante) e come si legge il
messaggio d'errore: è un'occasione a basso costo per introdurre l'idea che un errore di
build va letto, non temuto — utile prima del checkpoint che segue. [inferred]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problem | goals: GOAL_002_IMAGE_BUILD | timing_min: 3</a:t>
            </a:r>
          </a:p>
          <a:p>
            <a:r>
              <a:rPr sz="1200" b="0" i="0">
                <a:solidFill>
                  <a:srgbClr val="1A1A1A"/>
                </a:solidFill>
                <a:latin typeface="Calibri"/>
              </a:rPr>
              <a:t>[talk] Non indicare qui la soluzione a un Dockerfile che non compila: è esattamente ciò che il
checkpoint di sequence 16 (DR-IMAGE-BUILD) chiede di risolvere in autonomia.
</a:t>
            </a:r>
          </a:p>
          <a:p>
            <a:r>
              <a:rPr sz="1200" b="0" i="0">
                <a:solidFill>
                  <a:srgbClr val="1A1A1A"/>
                </a:solidFill>
                <a:latin typeface="Calibri"/>
              </a:rPr>
              <a:t>[why_here] Corrisponde a sequence 16, checkpoint su GOAL_002_IMAGE_BUILD: CURRICULUM lo annota come
"Checkpoint su GOAL_002". [stated]
</a:t>
            </a:r>
          </a:p>
          <a:p>
            <a:r>
              <a:rPr sz="1200" b="0" i="0">
                <a:solidFill>
                  <a:srgbClr val="1A1A1A"/>
                </a:solidFill>
                <a:latin typeface="Calibri"/>
              </a:rPr>
              <a:t>[links] Chiude l'arco apertosi con S2-04/S2-05/S2-06. L'esercitazione stessa (sequence 16) è già
schedulata come proprio item CURRICULUM: questa slide la introduce, non la sostituisce.
Prepara concettualmente PRQ-REGISTRY (sessione 3): l'immagine costruita qui è la stessa che
verrà distribuita più avanti, senza anticiparne il meccanismo.
</a:t>
            </a:r>
          </a:p>
          <a:p>
            <a:r>
              <a:rPr sz="1200" b="0" i="0">
                <a:solidFill>
                  <a:srgbClr val="1A1A1A"/>
                </a:solidFill>
                <a:latin typeface="Calibri"/>
              </a:rPr>
              <a:t>[watch_for] Non indicare qui la soglia di superamento del checkpoint né un esempio di Dockerfile
corretto — regola di controllo-accesso di questo ruolo, slide condivisa con la classe.
[stated, da material_authoring_rules.md]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0"/>
            <a:ext cx="11094415" cy="1097280"/>
          </a:xfrm>
          <a:prstGeom prst="rect">
            <a:avLst/>
          </a:prstGeom>
          <a:noFill/>
        </p:spPr>
        <p:txBody>
          <a:bodyPr wrap="square">
            <a:spAutoFit/>
          </a:bodyPr>
          <a:lstStyle/>
          <a:p>
            <a:pPr algn="ctr"/>
            <a:r>
              <a:rPr sz="4000" b="1" i="0">
                <a:solidFill>
                  <a:srgbClr val="1A1A1A"/>
                </a:solidFill>
                <a:latin typeface="Calibri"/>
              </a:rPr>
              <a:t>Ciclo di vita del container e costruzione di un'immagine</a:t>
            </a:r>
          </a:p>
        </p:txBody>
      </p:sp>
      <p:sp>
        <p:nvSpPr>
          <p:cNvPr id="3" name="TextBox 2"/>
          <p:cNvSpPr txBox="1"/>
          <p:nvPr/>
        </p:nvSpPr>
        <p:spPr>
          <a:xfrm>
            <a:off x="548640" y="3383280"/>
            <a:ext cx="11094415" cy="731520"/>
          </a:xfrm>
          <a:prstGeom prst="rect">
            <a:avLst/>
          </a:prstGeom>
          <a:noFill/>
        </p:spPr>
        <p:txBody>
          <a:bodyPr wrap="square">
            <a:spAutoFit/>
          </a:bodyPr>
          <a:lstStyle/>
          <a:p>
            <a:pPr algn="ctr"/>
            <a:r>
              <a:rPr sz="2200" b="0" i="1">
                <a:solidFill>
                  <a:srgbClr val="5A5A5A"/>
                </a:solidFill>
                <a:latin typeface="Calibri"/>
              </a:rPr>
              <a:t>Dall'interpretare lo stato di un container al costruire l'immagine che lo fa nascere</a:t>
            </a:r>
          </a:p>
        </p:txBody>
      </p:sp>
      <p:sp>
        <p:nvSpPr>
          <p:cNvPr id="4" name="TextBox 3"/>
          <p:cNvSpPr txBox="1"/>
          <p:nvPr/>
        </p:nvSpPr>
        <p:spPr>
          <a:xfrm>
            <a:off x="548640" y="4206240"/>
            <a:ext cx="11094415" cy="548640"/>
          </a:xfrm>
          <a:prstGeom prst="rect">
            <a:avLst/>
          </a:prstGeom>
          <a:noFill/>
        </p:spPr>
        <p:txBody>
          <a:bodyPr wrap="square">
            <a:spAutoFit/>
          </a:bodyPr>
          <a:lstStyle/>
          <a:p>
            <a:pPr algn="ctr"/>
            <a:r>
              <a:rPr sz="1600" b="0" i="0">
                <a:solidFill>
                  <a:srgbClr val="5A5A5A"/>
                </a:solidFill>
                <a:latin typeface="Calibri"/>
              </a:rPr>
              <a:t>Docker: dai container ai sistemi multi-servizio (corso ITS, primo anno) — Sessione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0"/>
            <a:ext cx="11094415" cy="1097280"/>
          </a:xfrm>
          <a:prstGeom prst="rect">
            <a:avLst/>
          </a:prstGeom>
          <a:noFill/>
        </p:spPr>
        <p:txBody>
          <a:bodyPr wrap="square">
            <a:spAutoFit/>
          </a:bodyPr>
          <a:lstStyle/>
          <a:p>
            <a:pPr algn="ctr"/>
            <a:r>
              <a:rPr sz="3200" b="1" i="0">
                <a:solidFill>
                  <a:srgbClr val="1A1A1A"/>
                </a:solidFill>
                <a:latin typeface="Calibri"/>
              </a:rPr>
              <a:t>Interpretare lo stato di un container dai comandi standard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 container passa da creato a in esecuzione a fermato; run e stop guidano queste transizioni.</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2-01.png"/>
          <p:cNvPicPr>
            <a:picLocks noChangeAspect="1"/>
          </p:cNvPicPr>
          <p:nvPr/>
        </p:nvPicPr>
        <p:blipFill>
          <a:blip r:embed="rId2"/>
          <a:stretch>
            <a:fillRect/>
          </a:stretch>
        </p:blipFill>
        <p:spPr>
          <a:xfrm>
            <a:off x="5265473" y="1463040"/>
            <a:ext cx="1660748" cy="3840480"/>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Il ciclo di vita di un container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ps, logs ed exec permettono di osservare un container in esecuzione senza fermarlo.</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2-02.png"/>
          <p:cNvPicPr>
            <a:picLocks noChangeAspect="1"/>
          </p:cNvPicPr>
          <p:nvPr/>
        </p:nvPicPr>
        <p:blipFill>
          <a:blip r:embed="rId2"/>
          <a:stretch>
            <a:fillRect/>
          </a:stretch>
        </p:blipFill>
        <p:spPr>
          <a:xfrm>
            <a:off x="548640" y="1493186"/>
            <a:ext cx="11094415" cy="3780188"/>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Tre modi di osservare un container in esecuzione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L'esercitazione seguente chiede di determinare da solo, non di eseguire a memoria, lo stato di un container.</a:t>
            </a:r>
          </a:p>
        </p:txBody>
      </p:sp>
      <p:sp>
        <p:nvSpPr>
          <p:cNvPr id="3" name="TextBox 2"/>
          <p:cNvSpPr txBox="1"/>
          <p:nvPr/>
        </p:nvSpPr>
        <p:spPr>
          <a:xfrm>
            <a:off x="548640" y="1463040"/>
            <a:ext cx="11094415" cy="4937760"/>
          </a:xfrm>
          <a:prstGeom prst="rect">
            <a:avLst/>
          </a:prstGeom>
          <a:noFill/>
        </p:spPr>
        <p:txBody>
          <a:bodyPr wrap="square">
            <a:spAutoFit/>
          </a:bodyPr>
          <a:lstStyle/>
          <a:p>
            <a:r>
              <a:rPr sz="2200" b="0" i="0">
                <a:solidFill>
                  <a:srgbClr val="1A1A1A"/>
                </a:solidFill>
                <a:latin typeface="Calibri"/>
              </a:rPr>
              <a:t>•  Il container è in esecuzione o fermato?</a:t>
            </a:r>
          </a:p>
          <a:p>
            <a:r>
              <a:rPr sz="2200" b="0" i="0">
                <a:solidFill>
                  <a:srgbClr val="1A1A1A"/>
                </a:solidFill>
                <a:latin typeface="Calibri"/>
              </a:rPr>
              <a:t>•  Perché si è fermato?</a:t>
            </a:r>
          </a:p>
          <a:p>
            <a:r>
              <a:rPr sz="2200" b="0" i="0">
                <a:solidFill>
                  <a:srgbClr val="1A1A1A"/>
                </a:solidFill>
                <a:latin typeface="Calibri"/>
              </a:rPr>
              <a:t>•  Cosa ha scritto in output finora?</a:t>
            </a:r>
          </a:p>
          <a:p>
            <a:r>
              <a:rPr sz="2200" b="0" i="0">
                <a:solidFill>
                  <a:srgbClr val="1A1A1A"/>
                </a:solidFill>
                <a:latin typeface="Calibri"/>
              </a:rPr>
              <a:t>•  Come eseguire un comando al suo interno?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0"/>
            <a:ext cx="11094415" cy="1097280"/>
          </a:xfrm>
          <a:prstGeom prst="rect">
            <a:avLst/>
          </a:prstGeom>
          <a:noFill/>
        </p:spPr>
        <p:txBody>
          <a:bodyPr wrap="square">
            <a:spAutoFit/>
          </a:bodyPr>
          <a:lstStyle/>
          <a:p>
            <a:pPr algn="ctr"/>
            <a:r>
              <a:rPr sz="3200" b="1" i="0">
                <a:solidFill>
                  <a:srgbClr val="1A1A1A"/>
                </a:solidFill>
                <a:latin typeface="Calibri"/>
              </a:rPr>
              <a:t>Scrivere un Dockerfile e costruire un'immagine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Un Dockerfile è la ricetta testuale da cui si costruisce un'immagine.</a:t>
            </a:r>
          </a:p>
        </p:txBody>
      </p:sp>
      <p:sp>
        <p:nvSpPr>
          <p:cNvPr id="3" name="TextBox 2"/>
          <p:cNvSpPr txBox="1"/>
          <p:nvPr/>
        </p:nvSpPr>
        <p:spPr>
          <a:xfrm>
            <a:off x="548640" y="1463040"/>
            <a:ext cx="11094415" cy="4937760"/>
          </a:xfrm>
          <a:prstGeom prst="rect">
            <a:avLst/>
          </a:prstGeom>
          <a:noFill/>
        </p:spPr>
        <p:txBody>
          <a:bodyPr wrap="square">
            <a:spAutoFit/>
          </a:bodyPr>
          <a:lstStyle/>
          <a:p/>
        </p:txBody>
      </p:sp>
      <p:pic>
        <p:nvPicPr>
          <p:cNvPr id="4" name="Picture 3" descr="S2-04.png"/>
          <p:cNvPicPr>
            <a:picLocks noChangeAspect="1"/>
          </p:cNvPicPr>
          <p:nvPr/>
        </p:nvPicPr>
        <p:blipFill>
          <a:blip r:embed="rId2"/>
          <a:stretch>
            <a:fillRect/>
          </a:stretch>
        </p:blipFill>
        <p:spPr>
          <a:xfrm>
            <a:off x="548640" y="2973305"/>
            <a:ext cx="11094415" cy="819949"/>
          </a:xfrm>
          <a:prstGeom prst="rect">
            <a:avLst/>
          </a:prstGeom>
        </p:spPr>
      </p:pic>
      <p:sp>
        <p:nvSpPr>
          <p:cNvPr id="5" name="TextBox 4"/>
          <p:cNvSpPr txBox="1"/>
          <p:nvPr/>
        </p:nvSpPr>
        <p:spPr>
          <a:xfrm>
            <a:off x="548640" y="5394960"/>
            <a:ext cx="11094415" cy="365760"/>
          </a:xfrm>
          <a:prstGeom prst="rect">
            <a:avLst/>
          </a:prstGeom>
          <a:noFill/>
        </p:spPr>
        <p:txBody>
          <a:bodyPr wrap="square">
            <a:spAutoFit/>
          </a:bodyPr>
          <a:lstStyle/>
          <a:p>
            <a:r>
              <a:rPr sz="1400" b="0" i="1">
                <a:solidFill>
                  <a:srgbClr val="5A5A5A"/>
                </a:solidFill>
                <a:latin typeface="Calibri"/>
              </a:rPr>
              <a:t>Dal Dockerfile all'immagine, all'esecuzione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Quattro istruzioni bastano per descrivere come costruire un'immagine funzionante.</a:t>
            </a:r>
          </a:p>
        </p:txBody>
      </p:sp>
      <p:sp>
        <p:nvSpPr>
          <p:cNvPr id="3" name="TextBox 2"/>
          <p:cNvSpPr txBox="1"/>
          <p:nvPr/>
        </p:nvSpPr>
        <p:spPr>
          <a:xfrm>
            <a:off x="548640" y="1463040"/>
            <a:ext cx="11094415" cy="4937760"/>
          </a:xfrm>
          <a:prstGeom prst="rect">
            <a:avLst/>
          </a:prstGeom>
          <a:noFill/>
        </p:spPr>
        <p:txBody>
          <a:bodyPr wrap="square">
            <a:spAutoFit/>
          </a:bodyPr>
          <a:lstStyle/>
          <a:p>
            <a:r>
              <a:rPr sz="1600" b="0" i="1">
                <a:solidFill>
                  <a:srgbClr val="5A5A5A"/>
                </a:solidFill>
                <a:latin typeface="Calibri"/>
              </a:rPr>
              <a:t>Esempio minimale [invented framing]: applicazione Node.js generica, vedi instructional_decisions</a:t>
            </a:r>
          </a:p>
          <a:p>
            <a:r>
              <a:rPr sz="1600" b="0" i="0">
                <a:solidFill>
                  <a:srgbClr val="1A1A1A"/>
                </a:solidFill>
                <a:latin typeface="Consolas"/>
              </a:rPr>
              <a:t>FROM node:20</a:t>
            </a:r>
          </a:p>
          <a:p>
            <a:r>
              <a:rPr sz="1600" b="0" i="0">
                <a:solidFill>
                  <a:srgbClr val="1A1A1A"/>
                </a:solidFill>
                <a:latin typeface="Consolas"/>
              </a:rPr>
              <a:t>COPY . /app</a:t>
            </a:r>
          </a:p>
          <a:p>
            <a:r>
              <a:rPr sz="1600" b="0" i="0">
                <a:solidFill>
                  <a:srgbClr val="1A1A1A"/>
                </a:solidFill>
                <a:latin typeface="Consolas"/>
              </a:rPr>
              <a:t>RUN npm install</a:t>
            </a:r>
          </a:p>
          <a:p>
            <a:r>
              <a:rPr sz="1600" b="0" i="0">
                <a:solidFill>
                  <a:srgbClr val="1A1A1A"/>
                </a:solidFill>
                <a:latin typeface="Consolas"/>
              </a:rPr>
              <a:t>CMD ["node", "index.js"]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Il docente costruisce l'immagine dal Dockerfile e la esegue per verificare che funzioni.</a:t>
            </a:r>
          </a:p>
        </p:txBody>
      </p:sp>
      <p:sp>
        <p:nvSpPr>
          <p:cNvPr id="3" name="TextBox 2"/>
          <p:cNvSpPr txBox="1"/>
          <p:nvPr/>
        </p:nvSpPr>
        <p:spPr>
          <a:xfrm>
            <a:off x="548640" y="1463040"/>
            <a:ext cx="11094415" cy="4937760"/>
          </a:xfrm>
          <a:prstGeom prst="rect">
            <a:avLst/>
          </a:prstGeom>
          <a:noFill/>
        </p:spPr>
        <p:txBody>
          <a:bodyPr wrap="square">
            <a:spAutoFit/>
          </a:bodyPr>
          <a:lstStyle/>
          <a:p>
            <a:r>
              <a:rPr sz="1600" b="0" i="1">
                <a:solidFill>
                  <a:srgbClr val="5A5A5A"/>
                </a:solidFill>
                <a:latin typeface="Calibri"/>
              </a:rPr>
              <a:t>Sequenza mostrata dal docente dal vivo</a:t>
            </a:r>
          </a:p>
          <a:p>
            <a:r>
              <a:rPr sz="1600" b="0" i="0">
                <a:solidFill>
                  <a:srgbClr val="1A1A1A"/>
                </a:solidFill>
                <a:latin typeface="Consolas"/>
              </a:rPr>
              <a:t>docker build -t app .</a:t>
            </a:r>
          </a:p>
          <a:p>
            <a:r>
              <a:rPr sz="1600" b="0" i="0">
                <a:solidFill>
                  <a:srgbClr val="1A1A1A"/>
                </a:solidFill>
                <a:latin typeface="Consolas"/>
              </a:rPr>
              <a:t>docker run 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05840"/>
          </a:xfrm>
          <a:prstGeom prst="rect">
            <a:avLst/>
          </a:prstGeom>
          <a:noFill/>
        </p:spPr>
        <p:txBody>
          <a:bodyPr wrap="square">
            <a:spAutoFit/>
          </a:bodyPr>
          <a:lstStyle/>
          <a:p>
            <a:r>
              <a:rPr sz="2600" b="1" i="0">
                <a:solidFill>
                  <a:srgbClr val="1A1A1A"/>
                </a:solidFill>
                <a:latin typeface="Calibri"/>
              </a:rPr>
              <a:t>L'esercitazione seguente chiede di costruire un'immagine che esegua davvero l'applicazione richiesta, non solo un Dockerfile che compila.</a:t>
            </a:r>
          </a:p>
        </p:txBody>
      </p:sp>
      <p:sp>
        <p:nvSpPr>
          <p:cNvPr id="3" name="TextBox 2"/>
          <p:cNvSpPr txBox="1"/>
          <p:nvPr/>
        </p:nvSpPr>
        <p:spPr>
          <a:xfrm>
            <a:off x="548640" y="1463040"/>
            <a:ext cx="11094415" cy="4937760"/>
          </a:xfrm>
          <a:prstGeom prst="rect">
            <a:avLst/>
          </a:prstGeom>
          <a:noFill/>
        </p:spPr>
        <p:txBody>
          <a:bodyPr wrap="square">
            <a:spAutoFit/>
          </a:bodyPr>
          <a:lstStyle/>
          <a:p>
            <a:r>
              <a:rPr sz="2200" b="0" i="0">
                <a:solidFill>
                  <a:srgbClr val="1A1A1A"/>
                </a:solidFill>
                <a:latin typeface="Calibri"/>
              </a:rPr>
              <a:t>•  Build dell'immagine senza errori</a:t>
            </a:r>
          </a:p>
          <a:p>
            <a:r>
              <a:rPr sz="2200" b="0" i="0">
                <a:solidFill>
                  <a:srgbClr val="1A1A1A"/>
                </a:solidFill>
                <a:latin typeface="Calibri"/>
              </a:rPr>
              <a:t>•  Applicazione target in esecuzione nel container</a:t>
            </a:r>
          </a:p>
          <a:p>
            <a:r>
              <a:rPr sz="2200" b="0" i="0">
                <a:solidFill>
                  <a:srgbClr val="1A1A1A"/>
                </a:solidFill>
                <a:latin typeface="Calibri"/>
              </a:rPr>
              <a:t>•  Errore di build interpretato correttamente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