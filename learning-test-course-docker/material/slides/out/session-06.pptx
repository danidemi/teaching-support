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role: problem | goals: GOAL_006_COMPOSE | timing_min: 4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[talk] Questi passi (rete, avvio, collegamento) sono gli stessi che gli studenti hanno già
fatto a mano nella sessione 3 (creazione di una rete Docker e collegamento di due
container per nome). Oggi introduciamo uno strumento che li descrive in un solo posto
invece di eseguirli uno a uno. [inferred: collegamento didattico tra le due sessioni]
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[why_here] Apre il segmento con il problema, non con la sintassi (andragogia: un adulto si impegna prima su un bisogno riconosciuto). Il bisogno è già stato vissuto in prima persona nella sessione 3.
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[links] Costruisce su: rete Docker e risoluzione dei nomi tra container (sessione 3, item 22-23).
Anticipa: la sintassi che risolve questo problema, nella prossima slide.
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[watch_for] Alcuni studenti penseranno che Compose sia "un altro comando Docker" invece di uno strumento che descrive più comandi insieme: va chiarita la differenza a voce. [inferred]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role: vocab | goals: GOAL_006_COMPOSE | timing_min: 5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[talk] "ports" e "volumes" non sono concetti nuovi: sono la stessa mappatura delle porte
(sessione 4, item 25-26) e lo stesso meccanismo di volumi/bind mount (sessione 4, item
29-30), scritti dentro il file invece che come opzione da riga di comando. [inferred:
collegamento esplicito tra sintassi CLI e sintassi Compose]
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[why_here] Introduce il vocabolario prima dell'artefatto completo, per non sovraccaricare la slide successiva con termini mai visti insieme al file intero (carico cognitivo).
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[links] Costruisce su: mappatura delle porte (sessione 4, item 25) e volumi/bind mount
(sessione 4, item 29). Non ancora coperto qui: "depends_on" tra 3+ servizi, che tornerà
nel Segmento B di questa stessa sessione.
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[watch_for] "depends_on" viene spesso letto come garanzia che il servizio dipendente sia "pronto", mentre garantisce solo l'ordine di avvio del processo, non la sua disponibilità effettiva: va segnalato subito per evitare un equivoco che si porterebbero al progetto finale. [inferred] [risk: equivoco che si propaga fino al progetto finale se non corretto qui]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role: concept | goals: GOAL_006_COMPOSE | timing_min: 6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[talk] "YAML" (Yet Another Markup Language, si può tradurre come: ancora un altro linguaggio
di markup) è la stessa sintassi già incontrata nel corso per altri file di
configurazione: indentazione con spazi, mai tabulazioni. [inferred] Nessuno store
fissa un'applicazione o un'immagine concreta per questo corso: "applicazione",
"database" e "postgres:16" sono nomi di esempio. [invented framing]
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[why_here] Prima immagine concreta e completa del file, dopo aver visto il problema e il vocabolario separatamente: qui i pezzi si compongono.
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[links] Costruisce su: sintassi Dockerfile (sessione 2, item 14) per l'analogia di formato
testuale leggibile; volumi (sessione 4, item 29-31).
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[watch_for] L'indentazione sbagliata è l'errore più comune alla prima scrittura di un file Compose: va mostrato a voce cosa succede quando un servizio finisce fuori posto. [inferred]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role: concept | goals: GOAL_006_COMPOSE | timing_min: 4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[talk] "-d" (già visto per altri comandi Docker nel ciclo di vita del container, sessione 2)
avvia in background. "down" non solo ferma: rimuove anche la rete che Compose ha
creato automaticamente per collegare i servizi. [inferred: comportamento standard di
Docker Compose, non riportato testualmente in alcuno store]
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[why_here] Chiude il segmento con il comando che risolve il problema di apertura (S6-01): da più comandi manuali coordinati a un solo comando.
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[links] Costruisce su: `docker stop`/ciclo di vita del container (sessione 2, item 10-12).
Prepara: l'esercitazione pratica della sequence 43, dove gli studenti eseguiranno
questo comando sul proprio sistema.
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[watch_for] Alcuni studenti si aspettano che "docker compose down" cancelli anche i dati nel volume: non è così di default, e la differenza va verificata dal vivo, non solo affermata. [inferred]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role: concept | goals: GOAL_006_COMPOSE | timing_min: 5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[talk] Questa rete e questo volume non sono un meccanismo nuovo: sono la stessa rete Docker
isolata con risoluzione dei nomi (sessione 3) e lo stesso volume nominato (sessione 4)
che gli studenti hanno già creato a mano; qui Compose li crea e li collega da solo a
partire dal file.
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[why_here] Rende esplicito, con un diagramma, cosa il comando della slide precedente fa realmente dietro le quinte — evidenza visiva del "solo comando" invece di un'altra affermazione a parole.
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[links] Costruisce su: rete Docker (sessione 3, item 22-23), volumi (sessione 4, item 29-31).
Anticipa: l'esercitazione della sequence 43, che chiede di verificare questo stesso
collegamento sul proprio sistema.
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[watch_for] Il nome del servizio ("database") è anche il nome con cui l'altro servizio lo raggiunge in rete: chi non ha fissato bene la risoluzione dei nomi in sessione 3 farà fatica qui, va richiamato esplicitamente. [inferred]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role: recap | goals: GOAL_004_NETWORK, GOAL_005_VOLUME, GOAL_006_COMPOSE | timing_min: 2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[talk] Il quiz che segue non introduce contenuto nuovo: chiede di ricollegare rete Docker
(sessione 3) e volumi (sessione 4) al file Compose appena visto, per fissarli in
memoria a lungo termine prima di passare a topologie più complesse.
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[why_here] CURRICULUM (item 44) descrive questo quiz come deliberatamente non sui contenuti appena completati, ma come un ponte tra sessioni precedenti e il nuovo contesto Compose: la slide segnala solo questo ponte, senza contenuto valutativo.
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[links] Costruisce su: rete Docker (sessione 3), volumi (sessione 4), sintassi Compose di base
(questa sessione, Segmento A).
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[watch_for] Alcuni studenti tratteranno questo quiz di richiamo come una verifica sui contenuti appena finiti (Compose) invece che su rete e volumi delle sessioni precedenti, e si bloccheranno aspettandosi domande sulla sintassi appena vista: va chiarito a voce prima di iniziare. [inferred]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role: problem | goals: GOAL_007_COMPLEX_SYSTEM | timing_min: 3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[talk] "SMTP" (Simple Mail Transfer Protocol, si può tradurre come: protocollo di
trasferimento della posta) è il servizio che questa topologia usa come esempio di
terzo servizio: un "mock" (finto, usato per test) che intercetta le email senza
spedirle davvero. [inferred: glossa generale, non riportata testualmente in alcuno
store] La topologia stessa è già stata progettata a gruppi nella sessione precedente,
non da rispiegare qui.
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[why_here] Apre il segmento richiamando un lavoro già fatto dagli studenti (discussione a gruppi, sessione 5, item 40), non un problema nuovo: il problema di oggi è solo "come lo traduco in sintassi Compose".
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[links] Costruisce su: perché un sistema reale ha più servizi collaboranti (sessione 5, item
38); progettazione della topologia a gruppi (sessione 5, item 40). Non rispiega quella
discussione, la nomina.
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[watch_for] Alcuni gruppi avranno progettato topologie diverse tra loro in sessione 5: la slide usa lo schema app+database+mock SMTP solo come riferimento comune, non come unica topologia valida. [inferred]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role: concept | goals: GOAL_007_COMPLEX_SYSTEM | timing_min: 5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[talk] Rispetto al diagramma a due servizi del Segmento A, qui l'applicazione ha due
collegamenti da mantenere invece di uno: è questo, più che la lunghezza del file, il
salto di complessità da gestire.
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[why_here] Rende visiva la differenza tra pass 1 (due servizi, Segmento A) e pass 2 (tre o più servizi): il nodo DESIGN descrive esplicitamente questo salto come "spirale di approfondimento" sulla stessa sintassi di base.
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[links] Costruisce su: la topologia app+database del Segmento A di questa sessione; la
progettazione della topologia a gruppi (sessione 5, item 39-40).
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[watch_for] Il database e il mock SMTP non comunicano tra loro in questo schema: alcuni studenti aggiungeranno un collegamento non necessario per abitudine a "collegare tutto a tutto". [inferred]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role: concept | goals: GOAL_007_COMPLEX_SYSTEM | timing_min: 6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[talk] Confrontare riga per riga con il file a due servizi (S6-03, Segmento A): la struttura
di ogni servizio non cambia, cambia solo quanti "depends_on" e servizi ci sono.
"mailhog/mailhog" è un esempio di immagine mock SMTP di uso comune, non un vincolo di
questo corso. [invented framing]
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[why_here] Mostra concretamente cosa significa "estendere" la sintassi di base (nodo PRQ-COMPOSE-DEEP: "riprende la sintassi pass 1 aggiungendo la complessità di topologia").
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[links] Costruisce su: il file a due servizi (questa sessione, Segmento A, S6-03).
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[watch_for] Con più servizi cresce la tentazione di copiare-incollare senza capire ogni blocco: va incoraggiato un confronto esplicito con il file a due servizi appena richiamato. [inferred]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role: concept | goals: GOAL_007_COMPLEX_SYSTEM | timing_min: 4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[talk] Questo elenco riprende, in forma di lista, la stessa idea già discussa a gruppi in
sessione 5 (item 39): progettare la topologia prima del codice, qui applicata
direttamente al file Compose appena scritto.
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[why_here] Chiude il segmento nominando esplicitamente cosa distingue pass 2 da pass 1, invece di lasciarlo implicito nel solo confronto tra i due file YAML.
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[links] Costruisce su: progettazione della topologia (sessione 5, item 39-40). Anticipa,
solo per nome: l'esecuzione di più repliche di un servizio (sessione 7) e il progetto
finale di gruppo (sessione 7-8), senza spiegarne il contenuto qui.
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[watch_for] "Più dipendenze di avvio" non significa "più garanzie di disponibilità": lo stesso equivoco già segnalato su depends_on (S6-02) vale ancora di più con 3+ servizi. [inferred] [risk: stesso equivoco di S6-02, qui più grave per il numero di servizi]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role: concept | goals: GOAL_007_COMPLEX_SYSTEM | timing_min: 3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[talk] Il comando non cambia rispetto al Segmento A: cambia solo cosa il file descrive. È
questa invarianza del comando, a fronte di una topologia più ricca, il punto da far
passare come acquisizione duratura di questo segmento (EU_2: un sistema reale è
composto da più servizi che collaborano).
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[why_here] Chiude il segmento tornando al comando unico introdotto in S6-04, per mostrare che la complessità aggiunta sta nel file, non nel modo di eseguirlo.
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[links] Costruisce su: `docker compose up` (questa sessione, Segmento A, S6-04). Anticipa,
solo per nome: il laboratorio guidato con più repliche (sessione 7) e il progetto
finale di gruppo (sessione 7-8, DR-COMPLEX-SYSTEM), senza spiegarne il contenuto qui.
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[watch_for] Alcuni studenti collegheranno "più servizi" a "più comandi necessari": va ribadito a voce che non è così, prima di passare al quiz di verifica. [inferred]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role: recap | goals: GOAL_006_COMPOSE, GOAL_007_COMPLEX_SYSTEM | timing_min: 2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[talk] CURRICULUM (item 47) elenca esplicitamente cosa copre questo quiz: sintassi di base
(PRQ-COMPOSE-SHALLOW), il checkpoint pratico appena svolto (DR-COMPOSE) e la sintassi
avanzata (PRQ-COMPOSE-DEEP). La slide nomina l'ambito, non le domande.
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[why_here] Chiude la sessione con una verifica trasversale a tutto ciò che è stato insegnato oggi, prima di passare, in sessione 7, alle repliche e all'avvio del progetto finale.
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[links] Ricopre: Segmento A e Segmento B di questa sessione. Anticipa, solo per nome: repliche
di un servizio e avvio del progetto finale (sessione 7), senza spiegarne il contenuto.
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[watch_for] Alcuni studenti penseranno che il file a 3+ servizi richieda un comando diverso da quello a 2 servizi (stesso equivoco già segnalato in S6-11): il quiz può far emergere proprio questo, non solo errori di sintassi. [inferred]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37744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1A1A1A"/>
                </a:solidFill>
                <a:latin typeface="Calibri"/>
              </a:rPr>
              <a:t>Comporre ed eseguire un sistema multi-servizio con Docker Compose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38328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5A5A5A"/>
                </a:solidFill>
                <a:latin typeface="Calibri"/>
              </a:rPr>
              <a:t>Da due servizi a topologie complesse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06240"/>
            <a:ext cx="11094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5A5A5A"/>
                </a:solidFill>
                <a:latin typeface="Calibri"/>
              </a:rPr>
              <a:t>Docker: dai container ai sistemi multi-servizio (corso ITS, primo anno) — Sessione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A1A1A"/>
                </a:solidFill>
                <a:latin typeface="Calibri"/>
              </a:rPr>
              <a:t>Sintassi di base di Docker Compose per due servizi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A1A1A"/>
                </a:solidFill>
                <a:latin typeface="Calibri"/>
              </a:rPr>
              <a:t>Avviare applicazione e database a mano richiede più comandi coordinati manualmente.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 i="0">
                <a:solidFill>
                  <a:srgbClr val="1A1A1A"/>
                </a:solidFill>
                <a:latin typeface="Calibri"/>
              </a:rPr>
              <a:t>1. docker run del database</a:t>
            </a:r>
          </a:p>
          <a:p>
            <a:r>
              <a:rPr sz="2200" b="0" i="0">
                <a:solidFill>
                  <a:srgbClr val="1A1A1A"/>
                </a:solidFill>
                <a:latin typeface="Calibri"/>
              </a:rPr>
              <a:t>2. creare la rete Docker</a:t>
            </a:r>
          </a:p>
          <a:p>
            <a:r>
              <a:rPr sz="2200" b="0" i="0">
                <a:solidFill>
                  <a:srgbClr val="1A1A1A"/>
                </a:solidFill>
                <a:latin typeface="Calibri"/>
              </a:rPr>
              <a:t>3. collegare il database alla rete</a:t>
            </a:r>
          </a:p>
          <a:p>
            <a:r>
              <a:rPr sz="2200" b="0" i="0">
                <a:solidFill>
                  <a:srgbClr val="1A1A1A"/>
                </a:solidFill>
                <a:latin typeface="Calibri"/>
              </a:rPr>
              <a:t>4. docker run dell'applicazione sulla stessa rete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A1A1A"/>
                </a:solidFill>
                <a:latin typeface="Calibri"/>
              </a:rPr>
              <a:t>Docker Compose descrive un sistema con un piccolo vocabolario di parole chiave.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 i="0">
                <a:solidFill>
                  <a:srgbClr val="1A1A1A"/>
                </a:solidFill>
                <a:latin typeface="Calibri"/>
              </a:rPr>
              <a:t>•  services: l'elenco dei servizi</a:t>
            </a:r>
          </a:p>
          <a:p>
            <a:r>
              <a:rPr sz="2200" b="0" i="0">
                <a:solidFill>
                  <a:srgbClr val="1A1A1A"/>
                </a:solidFill>
                <a:latin typeface="Calibri"/>
              </a:rPr>
              <a:t>•  build / image: come costruirlo</a:t>
            </a:r>
          </a:p>
          <a:p>
            <a:r>
              <a:rPr sz="2200" b="0" i="0">
                <a:solidFill>
                  <a:srgbClr val="1A1A1A"/>
                </a:solidFill>
                <a:latin typeface="Calibri"/>
              </a:rPr>
              <a:t>•  ports: mappatura delle porte</a:t>
            </a:r>
          </a:p>
          <a:p>
            <a:r>
              <a:rPr sz="2200" b="0" i="0">
                <a:solidFill>
                  <a:srgbClr val="1A1A1A"/>
                </a:solidFill>
                <a:latin typeface="Calibri"/>
              </a:rPr>
              <a:t>•  volumes: persistenza dei dati</a:t>
            </a:r>
          </a:p>
          <a:p>
            <a:r>
              <a:rPr sz="2200" b="0" i="0">
                <a:solidFill>
                  <a:srgbClr val="1A1A1A"/>
                </a:solidFill>
                <a:latin typeface="Calibri"/>
              </a:rPr>
              <a:t>•  depends_on: ordine di avvio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A1A1A"/>
                </a:solidFill>
                <a:latin typeface="Calibri"/>
              </a:rPr>
              <a:t>Un unico file docker-compose.yml descrive applicazione e database insieme.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5A5A5A"/>
                </a:solidFill>
                <a:latin typeface="Calibri"/>
              </a:rPr>
              <a:t>Esempio strutturale a due servizi</a:t>
            </a:r>
          </a:p>
          <a:p>
            <a:r>
              <a:rPr sz="1600" b="0" i="0">
                <a:solidFill>
                  <a:srgbClr val="1A1A1A"/>
                </a:solidFill>
                <a:latin typeface="Consolas"/>
              </a:rPr>
              <a:t>services:</a:t>
            </a:r>
          </a:p>
          <a:p>
            <a:r>
              <a:rPr sz="1600" b="0" i="0">
                <a:solidFill>
                  <a:srgbClr val="1A1A1A"/>
                </a:solidFill>
                <a:latin typeface="Consolas"/>
              </a:rPr>
              <a:t>  applicazione:</a:t>
            </a:r>
          </a:p>
          <a:p>
            <a:r>
              <a:rPr sz="1600" b="0" i="0">
                <a:solidFill>
                  <a:srgbClr val="1A1A1A"/>
                </a:solidFill>
                <a:latin typeface="Consolas"/>
              </a:rPr>
              <a:t>    build: ./applicazione</a:t>
            </a:r>
          </a:p>
          <a:p>
            <a:r>
              <a:rPr sz="1600" b="0" i="0">
                <a:solidFill>
                  <a:srgbClr val="1A1A1A"/>
                </a:solidFill>
                <a:latin typeface="Consolas"/>
              </a:rPr>
              <a:t>    ports:</a:t>
            </a:r>
          </a:p>
          <a:p>
            <a:r>
              <a:rPr sz="1600" b="0" i="0">
                <a:solidFill>
                  <a:srgbClr val="1A1A1A"/>
                </a:solidFill>
                <a:latin typeface="Consolas"/>
              </a:rPr>
              <a:t>      - "8080:8080"</a:t>
            </a:r>
          </a:p>
          <a:p>
            <a:r>
              <a:rPr sz="1600" b="0" i="0">
                <a:solidFill>
                  <a:srgbClr val="1A1A1A"/>
                </a:solidFill>
                <a:latin typeface="Consolas"/>
              </a:rPr>
              <a:t>    depends_on:</a:t>
            </a:r>
          </a:p>
          <a:p>
            <a:r>
              <a:rPr sz="1600" b="0" i="0">
                <a:solidFill>
                  <a:srgbClr val="1A1A1A"/>
                </a:solidFill>
                <a:latin typeface="Consolas"/>
              </a:rPr>
              <a:t>      - database</a:t>
            </a:r>
          </a:p>
          <a:p>
            <a:r>
              <a:rPr sz="1600" b="0" i="0">
                <a:solidFill>
                  <a:srgbClr val="1A1A1A"/>
                </a:solidFill>
                <a:latin typeface="Consolas"/>
              </a:rPr>
              <a:t>  database:</a:t>
            </a:r>
          </a:p>
          <a:p>
            <a:r>
              <a:rPr sz="1600" b="0" i="0">
                <a:solidFill>
                  <a:srgbClr val="1A1A1A"/>
                </a:solidFill>
                <a:latin typeface="Consolas"/>
              </a:rPr>
              <a:t>    image: postgres:16</a:t>
            </a:r>
          </a:p>
          <a:p>
            <a:r>
              <a:rPr sz="1600" b="0" i="0">
                <a:solidFill>
                  <a:srgbClr val="1A1A1A"/>
                </a:solidFill>
                <a:latin typeface="Consolas"/>
              </a:rPr>
              <a:t>    volumes:</a:t>
            </a:r>
          </a:p>
          <a:p>
            <a:r>
              <a:rPr sz="1600" b="0" i="0">
                <a:solidFill>
                  <a:srgbClr val="1A1A1A"/>
                </a:solidFill>
                <a:latin typeface="Consolas"/>
              </a:rPr>
              <a:t>      - dati-db:/var/lib/postgresql/data</a:t>
            </a:r>
          </a:p>
          <a:p>
            <a:r>
              <a:rPr sz="1600" b="0" i="0">
                <a:solidFill>
                  <a:srgbClr val="1A1A1A"/>
                </a:solidFill>
                <a:latin typeface="Consolas"/>
              </a:rPr>
              <a:t> </a:t>
            </a:r>
          </a:p>
          <a:p>
            <a:r>
              <a:rPr sz="1600" b="0" i="0">
                <a:solidFill>
                  <a:srgbClr val="1A1A1A"/>
                </a:solidFill>
                <a:latin typeface="Consolas"/>
              </a:rPr>
              <a:t>volumes:</a:t>
            </a:r>
          </a:p>
          <a:p>
            <a:r>
              <a:rPr sz="1600" b="0" i="0">
                <a:solidFill>
                  <a:srgbClr val="1A1A1A"/>
                </a:solidFill>
                <a:latin typeface="Consolas"/>
              </a:rPr>
              <a:t>  dati-db: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A1A1A"/>
                </a:solidFill>
                <a:latin typeface="Calibri"/>
              </a:rPr>
              <a:t>docker compose up avvia l'intero sistema descritto nel file con un solo comando.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5A5A5A"/>
                </a:solidFill>
                <a:latin typeface="Calibri"/>
              </a:rPr>
              <a:t>Avvio e arresto del sistema</a:t>
            </a:r>
          </a:p>
          <a:p>
            <a:r>
              <a:rPr sz="1600" b="0" i="0">
                <a:solidFill>
                  <a:srgbClr val="1A1A1A"/>
                </a:solidFill>
                <a:latin typeface="Consolas"/>
              </a:rPr>
              <a:t>docker compose up -d</a:t>
            </a:r>
          </a:p>
          <a:p>
            <a:r>
              <a:rPr sz="1600" b="0" i="0">
                <a:solidFill>
                  <a:srgbClr val="1A1A1A"/>
                </a:solidFill>
                <a:latin typeface="Consolas"/>
              </a:rPr>
              <a:t>docker compose down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A1A1A"/>
                </a:solidFill>
                <a:latin typeface="Calibri"/>
              </a:rPr>
              <a:t>Compose collega i servizi sulla stessa rete e riusa il volume già visto separatamente.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pic>
        <p:nvPicPr>
          <p:cNvPr id="4" name="Picture 3" descr="S6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573331"/>
            <a:ext cx="11094415" cy="161989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39496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5A5A5A"/>
                </a:solidFill>
                <a:latin typeface="Calibri"/>
              </a:rPr>
              <a:t>Cosa crea Compose dietro le quinte per due servizi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A1A1A"/>
                </a:solidFill>
                <a:latin typeface="Calibri"/>
              </a:rPr>
              <a:t>Richiamo: rete e volumi dentro Compose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A1A1A"/>
                </a:solidFill>
                <a:latin typeface="Calibri"/>
              </a:rPr>
              <a:t>Rete e volumi già visti tornano ora dentro la sintassi Compose appena introdotta.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1">
                <a:solidFill>
                  <a:srgbClr val="1A1A1A"/>
                </a:solidFill>
                <a:latin typeface="Calibri"/>
              </a:rPr>
              <a:t>“Rete tra container e volumi: stesso concetto, nuovo contesto.”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A1A1A"/>
                </a:solidFill>
                <a:latin typeface="Calibri"/>
              </a:rPr>
              <a:t>Sintassi Compose avanzata per topologie a 3 o più servizi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A1A1A"/>
                </a:solidFill>
                <a:latin typeface="Calibri"/>
              </a:rPr>
              <a:t>La topologia applicazione + database + mock SMTP progettata in aula va ora scritta in un file Compose.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A1A1A"/>
                </a:solidFill>
                <a:latin typeface="Calibri"/>
              </a:rPr>
              <a:t>Una topologia a 3 servizi aggiunge collegamenti da progettare, non solo righe da scrivere.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pic>
        <p:nvPicPr>
          <p:cNvPr id="4" name="Picture 3" descr="S6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6794" y="1463040"/>
            <a:ext cx="8558106" cy="3840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39496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5A5A5A"/>
                </a:solidFill>
                <a:latin typeface="Calibri"/>
              </a:rPr>
              <a:t>Topologia di riferimento: applicazione, database, mock SMTP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A1A1A"/>
                </a:solidFill>
                <a:latin typeface="Calibri"/>
              </a:rPr>
              <a:t>Il file Compose per 3 servizi estende lo stesso schema visto per due, con più depends_on.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5A5A5A"/>
                </a:solidFill>
                <a:latin typeface="Calibri"/>
              </a:rPr>
              <a:t>Esempio strutturale a tre servizi</a:t>
            </a:r>
          </a:p>
          <a:p>
            <a:r>
              <a:rPr sz="1600" b="0" i="0">
                <a:solidFill>
                  <a:srgbClr val="1A1A1A"/>
                </a:solidFill>
                <a:latin typeface="Consolas"/>
              </a:rPr>
              <a:t>services:</a:t>
            </a:r>
          </a:p>
          <a:p>
            <a:r>
              <a:rPr sz="1600" b="0" i="0">
                <a:solidFill>
                  <a:srgbClr val="1A1A1A"/>
                </a:solidFill>
                <a:latin typeface="Consolas"/>
              </a:rPr>
              <a:t>  applicazione:</a:t>
            </a:r>
          </a:p>
          <a:p>
            <a:r>
              <a:rPr sz="1600" b="0" i="0">
                <a:solidFill>
                  <a:srgbClr val="1A1A1A"/>
                </a:solidFill>
                <a:latin typeface="Consolas"/>
              </a:rPr>
              <a:t>    build: ./applicazione</a:t>
            </a:r>
          </a:p>
          <a:p>
            <a:r>
              <a:rPr sz="1600" b="0" i="0">
                <a:solidFill>
                  <a:srgbClr val="1A1A1A"/>
                </a:solidFill>
                <a:latin typeface="Consolas"/>
              </a:rPr>
              <a:t>    depends_on:</a:t>
            </a:r>
          </a:p>
          <a:p>
            <a:r>
              <a:rPr sz="1600" b="0" i="0">
                <a:solidFill>
                  <a:srgbClr val="1A1A1A"/>
                </a:solidFill>
                <a:latin typeface="Consolas"/>
              </a:rPr>
              <a:t>      - database</a:t>
            </a:r>
          </a:p>
          <a:p>
            <a:r>
              <a:rPr sz="1600" b="0" i="0">
                <a:solidFill>
                  <a:srgbClr val="1A1A1A"/>
                </a:solidFill>
                <a:latin typeface="Consolas"/>
              </a:rPr>
              <a:t>      - mock-smtp</a:t>
            </a:r>
          </a:p>
          <a:p>
            <a:r>
              <a:rPr sz="1600" b="0" i="0">
                <a:solidFill>
                  <a:srgbClr val="1A1A1A"/>
                </a:solidFill>
                <a:latin typeface="Consolas"/>
              </a:rPr>
              <a:t>  database:</a:t>
            </a:r>
          </a:p>
          <a:p>
            <a:r>
              <a:rPr sz="1600" b="0" i="0">
                <a:solidFill>
                  <a:srgbClr val="1A1A1A"/>
                </a:solidFill>
                <a:latin typeface="Consolas"/>
              </a:rPr>
              <a:t>    image: postgres:16</a:t>
            </a:r>
          </a:p>
          <a:p>
            <a:r>
              <a:rPr sz="1600" b="0" i="0">
                <a:solidFill>
                  <a:srgbClr val="1A1A1A"/>
                </a:solidFill>
                <a:latin typeface="Consolas"/>
              </a:rPr>
              <a:t>    volumes:</a:t>
            </a:r>
          </a:p>
          <a:p>
            <a:r>
              <a:rPr sz="1600" b="0" i="0">
                <a:solidFill>
                  <a:srgbClr val="1A1A1A"/>
                </a:solidFill>
                <a:latin typeface="Consolas"/>
              </a:rPr>
              <a:t>      - dati-db:/var/lib/postgresql/data</a:t>
            </a:r>
          </a:p>
          <a:p>
            <a:r>
              <a:rPr sz="1600" b="0" i="0">
                <a:solidFill>
                  <a:srgbClr val="1A1A1A"/>
                </a:solidFill>
                <a:latin typeface="Consolas"/>
              </a:rPr>
              <a:t>  mock-smtp:</a:t>
            </a:r>
          </a:p>
          <a:p>
            <a:r>
              <a:rPr sz="1600" b="0" i="0">
                <a:solidFill>
                  <a:srgbClr val="1A1A1A"/>
                </a:solidFill>
                <a:latin typeface="Consolas"/>
              </a:rPr>
              <a:t>    image: mailhog/mailhog</a:t>
            </a:r>
          </a:p>
          <a:p>
            <a:r>
              <a:rPr sz="1600" b="0" i="0">
                <a:solidFill>
                  <a:srgbClr val="1A1A1A"/>
                </a:solidFill>
                <a:latin typeface="Consolas"/>
              </a:rPr>
              <a:t> </a:t>
            </a:r>
          </a:p>
          <a:p>
            <a:r>
              <a:rPr sz="1600" b="0" i="0">
                <a:solidFill>
                  <a:srgbClr val="1A1A1A"/>
                </a:solidFill>
                <a:latin typeface="Consolas"/>
              </a:rPr>
              <a:t>volumes:</a:t>
            </a:r>
          </a:p>
          <a:p>
            <a:r>
              <a:rPr sz="1600" b="0" i="0">
                <a:solidFill>
                  <a:srgbClr val="1A1A1A"/>
                </a:solidFill>
                <a:latin typeface="Consolas"/>
              </a:rPr>
              <a:t>  dati-db: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A1A1A"/>
                </a:solidFill>
                <a:latin typeface="Calibri"/>
              </a:rPr>
              <a:t>Passare da 2 a 3+ servizi cambia il progetto prima ancora della sintassi.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 i="0">
                <a:solidFill>
                  <a:srgbClr val="1A1A1A"/>
                </a:solidFill>
                <a:latin typeface="Calibri"/>
              </a:rPr>
              <a:t>•  più servizi da nominare e collegare</a:t>
            </a:r>
          </a:p>
          <a:p>
            <a:r>
              <a:rPr sz="2200" b="0" i="0">
                <a:solidFill>
                  <a:srgbClr val="1A1A1A"/>
                </a:solidFill>
                <a:latin typeface="Calibri"/>
              </a:rPr>
              <a:t>•  topologia da progettare prima di scrivere</a:t>
            </a:r>
          </a:p>
          <a:p>
            <a:r>
              <a:rPr sz="2200" b="0" i="0">
                <a:solidFill>
                  <a:srgbClr val="1A1A1A"/>
                </a:solidFill>
                <a:latin typeface="Calibri"/>
              </a:rPr>
              <a:t>•  più dipendenze di avvio da dichiarare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A1A1A"/>
                </a:solidFill>
                <a:latin typeface="Calibri"/>
              </a:rPr>
              <a:t>Anche a 3 o più servizi, il sistema si avvia sempre con lo stesso comando singolo.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1">
                <a:solidFill>
                  <a:srgbClr val="1A1A1A"/>
                </a:solidFill>
                <a:latin typeface="Calibri"/>
              </a:rPr>
              <a:t>“docker compose up -d avvia applicazione, database e mock-smtp insieme.”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A1A1A"/>
                </a:solidFill>
                <a:latin typeface="Calibri"/>
              </a:rPr>
              <a:t>Verifica: da Compose base a topologie complesse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A1A1A"/>
                </a:solidFill>
                <a:latin typeface="Calibri"/>
              </a:rPr>
              <a:t>Il quiz di oggi ricopre tutta la sintassi Compose vista, dal file a due servizi a quello a tre o più.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1">
                <a:solidFill>
                  <a:srgbClr val="1A1A1A"/>
                </a:solidFill>
                <a:latin typeface="Calibri"/>
              </a:rPr>
              <a:t>“Dalla sintassi di base alle topologie complesse: cosa hai capito, cosa resta da fissare.”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