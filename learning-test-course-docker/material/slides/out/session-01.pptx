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problem | goals: EU_1 | timing_min: 6</a:t>
            </a:r>
          </a:p>
          <a:p>
            <a:r>
              <a:rPr sz="1200" b="0" i="0">
                <a:solidFill>
                  <a:srgbClr val="1A1A1A"/>
                </a:solidFill>
                <a:latin typeface="Calibri"/>
              </a:rPr>
              <a:t>[talk] Apri chiedendo in aula: quante volte un programma installato secondo le istruzioni non
ha funzionato al primo colpo su una macchina diversa da quella di chi lo ha scritto?
[invented framing] Il caso concreto lo scegli tu in aula: dipendenze mancanti, versione
sbagliata di un linguaggio, una libreria di sistema assente.
</a:t>
            </a:r>
          </a:p>
          <a:p>
            <a:r>
              <a:rPr sz="1200" b="0" i="0">
                <a:solidFill>
                  <a:srgbClr val="1A1A1A"/>
                </a:solidFill>
                <a:latin typeface="Calibri"/>
              </a:rPr>
              <a:t>[why_here] Prima slide del corso: PRQ-WHY-DOCKER è il nodo radice (root) del grafo DESIGN — non
richiede nulla a monte, ed è ciò che rende rilevante tutto il resto del corso [stated].
</a:t>
            </a:r>
          </a:p>
          <a:p>
            <a:r>
              <a:rPr sz="1200" b="0" i="0">
                <a:solidFill>
                  <a:srgbClr val="1A1A1A"/>
                </a:solidFill>
                <a:latin typeface="Calibri"/>
              </a:rPr>
              <a:t>[links] Non c'è nulla prima in CURRICULUM da richiamare (a parte il quiz di ingresso, sequence 1,
che non insegna questo nodo). Prepara la sequence 4 (isolamento) e la sequence 5
(concetto di container), che introducono la soluzione al problema posto qui.
</a:t>
            </a:r>
          </a:p>
          <a:p>
            <a:r>
              <a:rPr sz="1200" b="0" i="0">
                <a:solidFill>
                  <a:srgbClr val="1A1A1A"/>
                </a:solidFill>
                <a:latin typeface="Calibri"/>
              </a:rPr>
              <a:t>[watch_for] Lo Studente base (P-EXP escluso) potrebbe non avere mai installato/distribuito un
programma su una macchina diversa dalla propria: rendi l'esempio concreto e vicino
alla loro esperienza quotidiana (es. "il tuo amico non riesce ad aprire un file che tu
apri senza problemi"), non solo un esempio da sviluppatore professionista. [inferred,
da STUDENT_PERSONAS]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EU_1 | timing_min: 9</a:t>
            </a:r>
          </a:p>
          <a:p>
            <a:r>
              <a:rPr sz="1200" b="0" i="0">
                <a:solidFill>
                  <a:srgbClr val="1A1A1A"/>
                </a:solidFill>
                <a:latin typeface="Calibri"/>
              </a:rPr>
              <a:t>[talk] Non spiegare ancora come funziona un'immagine (arriva a sequence 7): qui basta
l'affermazione "stesso pacchetto, stesso risultato ovunque". Sottolinea subito la
precisazione "non è una macchina virtuale" [stated, EU_1 da GOALS] — la spieghi meglio
dopo il concetto di isolamento (sequence 4) e di container (sequence 5).
</a:t>
            </a:r>
          </a:p>
          <a:p>
            <a:r>
              <a:rPr sz="1200" b="0" i="0">
                <a:solidFill>
                  <a:srgbClr val="1A1A1A"/>
                </a:solidFill>
                <a:latin typeface="Calibri"/>
              </a:rPr>
              <a:t>[why_here] Chiude l'arco aperto da S1-01: pone Docker come risposta al problema di riproducibilità,
senza ancora entrare nel meccanismo. È la enduring understanding EU_1 dichiarata in
GOALS. [stated]
</a:t>
            </a:r>
          </a:p>
          <a:p>
            <a:r>
              <a:rPr sz="1200" b="0" i="0">
                <a:solidFill>
                  <a:srgbClr val="1A1A1A"/>
                </a:solidFill>
                <a:latin typeface="Calibri"/>
              </a:rPr>
              <a:t>[links] Prepara la sequence 4 (PRQ-ISOLATION) e la sequence 5 (PRQ-CONTAINER, che "ribadisce
EU_1" secondo CURRICULUM) — lì la differenza rispetto alla macchina virtuale viene
ripresa con la meccanica concreta.
</a:t>
            </a:r>
          </a:p>
          <a:p>
            <a:r>
              <a:rPr sz="1200" b="0" i="0">
                <a:solidFill>
                  <a:srgbClr val="1A1A1A"/>
                </a:solidFill>
                <a:latin typeface="Calibri"/>
              </a:rPr>
              <a:t>[watch_for] Molti studenti arrivano con l'idea (da sentito dire) che un container SIA una macchina
virtuale leggera: a questo punto della lezione limitati a negarlo esplicitamente, senza
ancora argomentare il perché — l'argomento arriva con l'isolamento e il container.
[inferred]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EU_1 | timing_min: 12</a:t>
            </a:r>
          </a:p>
          <a:p>
            <a:r>
              <a:rPr sz="1200" b="0" i="0">
                <a:solidFill>
                  <a:srgbClr val="1A1A1A"/>
                </a:solidFill>
                <a:latin typeface="Calibri"/>
              </a:rPr>
              <a:t>[talk] Concetto generico, non ancora Docker: un programma che scrive un file, occupa memoria o
usa la rete "per conto suo" senza sapere né interessarsi che un altro programma sta
facendo lo stesso sulla stessa macchina.
</a:t>
            </a:r>
          </a:p>
          <a:p>
            <a:r>
              <a:rPr sz="1200" b="0" i="0">
                <a:solidFill>
                  <a:srgbClr val="1A1A1A"/>
                </a:solidFill>
                <a:latin typeface="Calibri"/>
              </a:rPr>
              <a:t>[why_here] DESIGN registra questo nodo come [inferred]: propedeutico, non specifico di Docker,
introdotto per preparare il concetto di container (edge PRQ-CONTAINER → PRQ-ISOLATION).
Serve indirettamente EU_1, come base concettuale del container che arriva nella prossima
sequence. [inferred]
</a:t>
            </a:r>
          </a:p>
          <a:p>
            <a:r>
              <a:rPr sz="1200" b="0" i="0">
                <a:solidFill>
                  <a:srgbClr val="1A1A1A"/>
                </a:solidFill>
                <a:latin typeface="Calibri"/>
              </a:rPr>
              <a:t>[links] Si appoggia sull'uso di base del PC già presunto come baseline (concetto informale di
programma in esecuzione — BSL-PC-USE). Prepara direttamente sequence 5 (cos'è un
container), dove l'isolamento diventa il tratto che definisce un container.
</a:t>
            </a:r>
          </a:p>
          <a:p>
            <a:r>
              <a:rPr sz="1200" b="0" i="0">
                <a:solidFill>
                  <a:srgbClr val="1A1A1A"/>
                </a:solidFill>
                <a:latin typeface="Calibri"/>
              </a:rPr>
              <a:t>[watch_for] Il termine "isolamento" può suonare astratto senza un esempio fisico: usa l'esempio di
due programmi che scrivono file con lo stesso nome in due posti diversi, senza
accorgersene a vicenda. [inferred]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EU_1 | timing_min: 8</a:t>
            </a:r>
          </a:p>
          <a:p>
            <a:r>
              <a:rPr sz="1200" b="0" i="0">
                <a:solidFill>
                  <a:srgbClr val="1A1A1A"/>
                </a:solidFill>
                <a:latin typeface="Calibri"/>
              </a:rPr>
              <a:t>[talk] Metti insieme i due pezzi già visti: isolamento (sequence 4) applicato a un processo, più
un filesystem tutto suo. Non introdurre ancora il termine "immagine" nel dettaglio (arriva
a sequence 7): basta dire che il container "nasce da" un'immagine.
</a:t>
            </a:r>
          </a:p>
          <a:p>
            <a:r>
              <a:rPr sz="1200" b="0" i="0">
                <a:solidFill>
                  <a:srgbClr val="1A1A1A"/>
                </a:solidFill>
                <a:latin typeface="Calibri"/>
              </a:rPr>
              <a:t>[why_here] Nodo dichiarato [stated] in DESIGN. CURRICULUM annota che questa lezione "ribadisce EU_1":
qui la differenza container/macchina virtuale si spiega in concreto, perché un container
condivide il kernel dell'host invece di virtualizzarne uno proprio.
</a:t>
            </a:r>
          </a:p>
          <a:p>
            <a:r>
              <a:rPr sz="1200" b="0" i="0">
                <a:solidFill>
                  <a:srgbClr val="1A1A1A"/>
                </a:solidFill>
                <a:latin typeface="Calibri"/>
              </a:rPr>
              <a:t>[links] Costruisce direttamente su PRQ-ISOLATION (sequence 4) e sul problema posto in PRQ-WHY-DOCKER
(sequence 3). Prepara sequence 7 (immagine) e sequence 8 (separazione dei filesystem).
</a:t>
            </a:r>
          </a:p>
          <a:p>
            <a:r>
              <a:rPr sz="1200" b="0" i="0">
                <a:solidFill>
                  <a:srgbClr val="1A1A1A"/>
                </a:solidFill>
                <a:latin typeface="Calibri"/>
              </a:rPr>
              <a:t>[watch_for] Il punto debole tipico è "condivide il kernel" contro "ha il suo filesystem": chiarisci che
isolamento non vuol dire "computer separato", ma "spazio proprio all'interno dello stesso
sistema operativo". [inferred]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EU_1 | timing_min: 8</a:t>
            </a:r>
          </a:p>
          <a:p>
            <a:r>
              <a:rPr sz="1200" b="0" i="0">
                <a:solidFill>
                  <a:srgbClr val="1A1A1A"/>
                </a:solidFill>
                <a:latin typeface="Calibri"/>
              </a:rPr>
              <a:t>[talk] Questa è la slide dove l'affermazione "Docker non è una macchina virtuale" (EU_1) prende
finalmente un argomento tecnico concreto, dopo essere stata solo dichiarata in S1-02.
</a:t>
            </a:r>
          </a:p>
          <a:p>
            <a:r>
              <a:rPr sz="1200" b="0" i="0">
                <a:solidFill>
                  <a:srgbClr val="1A1A1A"/>
                </a:solidFill>
                <a:latin typeface="Calibri"/>
              </a:rPr>
              <a:t>[why_here] Chiude l'arco concettuale aperto in S1-02: la differenza dichiarata lì viene ora spiegata,
non solo affermata. [stated, EU_1 da GOALS]
</a:t>
            </a:r>
          </a:p>
          <a:p>
            <a:r>
              <a:rPr sz="1200" b="0" i="0">
                <a:solidFill>
                  <a:srgbClr val="1A1A1A"/>
                </a:solidFill>
                <a:latin typeface="Calibri"/>
              </a:rPr>
              <a:t>[links] Richiama esplicitamente S1-02 (stessa affermazione, qui argomentata) e S1-04 (kernel
condiviso già introdotto lì). Non introduce ancora nulla di rete o di immagine.
</a:t>
            </a:r>
          </a:p>
          <a:p>
            <a:r>
              <a:rPr sz="1200" b="0" i="0">
                <a:solidFill>
                  <a:srgbClr val="1A1A1A"/>
                </a:solidFill>
                <a:latin typeface="Calibri"/>
              </a:rPr>
              <a:t>[watch_for] Evita di scendere nei dettagli tecnici di virtualizzazione hardware (hypervisor, ecc.): non
è nel grafo DESIGN di questo corso e rischia di aprire una digressione fuori target per
questa cohort. [inferred, da STUDENT_PERSONAS - livello base]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EU_1 | timing_min: 5</a:t>
            </a:r>
          </a:p>
          <a:p>
            <a:r>
              <a:rPr sz="1200" b="0" i="0">
                <a:solidFill>
                  <a:srgbClr val="1A1A1A"/>
                </a:solidFill>
                <a:latin typeface="Calibri"/>
              </a:rPr>
              <a:t>[talk] Questa slide introduce la demo dal vivo (sequence 6): il docente esegue davvero questi tre
comandi al terminale, commentando cosa restituisce ciascuno. `nginx` è un esempio scelto
dall'autore di questo deck per avere un'immagine piccola e nota [invented framing]:
qualunque immagine leggera va bene, nessuno store ne prescrive una specifica. Non
spiegare qui la sintassi completa dei comandi (arriva come PRQ-CLI-BASICS, sessione 2,
CLI = command-line interface, interfaccia a riga di comando): l'obiettivo è rendere
concreto il concetto di container appena visto, non insegnare la CLI in dettaglio.
</a:t>
            </a:r>
          </a:p>
          <a:p>
            <a:r>
              <a:rPr sz="1200" b="0" i="0">
                <a:solidFill>
                  <a:srgbClr val="1A1A1A"/>
                </a:solidFill>
                <a:latin typeface="Calibri"/>
              </a:rPr>
              <a:t>[why_here] Corrisponde a sequence 6, dichiarata in CURRICULUM come dimostrazione dal vivo per "rendere
concreto il concetto di container appena presentato a lezione". [stated]
</a:t>
            </a:r>
          </a:p>
          <a:p>
            <a:r>
              <a:rPr sz="1200" b="0" i="0">
                <a:solidFill>
                  <a:srgbClr val="1A1A1A"/>
                </a:solidFill>
                <a:latin typeface="Calibri"/>
              </a:rPr>
              <a:t>[links] Anticipa senza spiegare la sintassi completa: PRQ-CLI-BASICS (sessione 2, sequence 10-11) è
dove questi stessi comandi vengono insegnati ed esercitati in dettaglio.
</a:t>
            </a:r>
          </a:p>
          <a:p>
            <a:r>
              <a:rPr sz="1200" b="0" i="0">
                <a:solidFill>
                  <a:srgbClr val="1A1A1A"/>
                </a:solidFill>
                <a:latin typeface="Calibri"/>
              </a:rPr>
              <a:t>[watch_for] Non lasciare che la demo scivoli in una spiegazione di flag e opzioni: qui il container deve
restare protagonista, non il comando. Anche l'ansia da terminale di P-BASE è più bassa in
modalità demo (guarda il docente) che in modalità hands-on: usala per costruire fiducia
prima dell'esercitazione della sessione 2. [inferred, da STUDENT_PERSONAS] Chi ha già usato
Docker (BSL-DOCKER-PRIOR [risk]) rischia di disimpegnarsi proprio in questa sessione di
sole basi: coinvolgilo chiedendogli di commentare cosa si aspetta prima di eseguire ogni
comando, invece di lasciarlo solo spettatore. [inferred, da STUDENT_PERSONAS]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EU_3 | timing_min: 10</a:t>
            </a:r>
          </a:p>
          <a:p>
            <a:r>
              <a:rPr sz="1200" b="0" i="0">
                <a:solidFill>
                  <a:srgbClr val="1A1A1A"/>
                </a:solidFill>
                <a:latin typeface="Calibri"/>
              </a:rPr>
              <a:t>[talk] Collega ogni passaggio a qualcosa già visto: "si crea" richiama il problema di
riproducibilità (S1-01), "si distribuisce" è ciò che risolve quel problema su macchine
diverse (S1-02). Il nodo "Archivio condiviso" non va ancora chiamato registry: quel
termine e la sua meccanica sono contenuto della sessione 3.
</a:t>
            </a:r>
          </a:p>
          <a:p>
            <a:r>
              <a:rPr sz="1200" b="0" i="0">
                <a:solidFill>
                  <a:srgbClr val="1A1A1A"/>
                </a:solidFill>
                <a:latin typeface="Calibri"/>
              </a:rPr>
              <a:t>[why_here] Introduce EU_3, enduring understanding dichiarata in GOALS. [stated] CURRICULUM annota
esplicitamente che questa lezione "introduce EU_3".
</a:t>
            </a:r>
          </a:p>
          <a:p>
            <a:r>
              <a:rPr sz="1200" b="0" i="0">
                <a:solidFill>
                  <a:srgbClr val="1A1A1A"/>
                </a:solidFill>
                <a:latin typeface="Calibri"/>
              </a:rPr>
              <a:t>[links] Richiama S1-02 (stesso pacchetto, macchine diverse) dando finalmente un nome
("immagine") a quel pacchetto. Prepara le sessioni 2 e 3, dove si costruirà (Dockerfile)
e distribuirà (registry) un'immagine per davvero — senza anticiparne la sintassi qui.
</a:t>
            </a:r>
          </a:p>
          <a:p>
            <a:r>
              <a:rPr sz="1200" b="0" i="0">
                <a:solidFill>
                  <a:srgbClr val="1A1A1A"/>
                </a:solidFill>
                <a:latin typeface="Calibri"/>
              </a:rPr>
              <a:t>[watch_for] Non introdurre ancora la sintassi del Dockerfile né i comandi di build/push: qui
l'immagine è solo un concetto, la meccanica è contenuto della sessione 2. [stated,
da CURRICULUM]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EU_3 | timing_min: 10</a:t>
            </a:r>
          </a:p>
          <a:p>
            <a:r>
              <a:rPr sz="1200" b="0" i="0">
                <a:solidFill>
                  <a:srgbClr val="1A1A1A"/>
                </a:solidFill>
                <a:latin typeface="Calibri"/>
              </a:rPr>
              <a:t>[talk] Torna sulla slide S1-04 ("un container è creato a partire da un'immagine") e ora la
completa: la stessa immagine può dare vita a più container, distinti tra loro.
</a:t>
            </a:r>
          </a:p>
          <a:p>
            <a:r>
              <a:rPr sz="1200" b="0" i="0">
                <a:solidFill>
                  <a:srgbClr val="1A1A1A"/>
                </a:solidFill>
                <a:latin typeface="Calibri"/>
              </a:rPr>
              <a:t>[why_here] Relazione dichiarata esplicitamente nella descrizione del nodo PRQ-IMAGE-CONCEPT in
DESIGN: "l'immagine è il modello da cui si avviano uno o più container". [stated]
</a:t>
            </a:r>
          </a:p>
          <a:p>
            <a:r>
              <a:rPr sz="1200" b="0" i="0">
                <a:solidFill>
                  <a:srgbClr val="1A1A1A"/>
                </a:solidFill>
                <a:latin typeface="Calibri"/>
              </a:rPr>
              <a:t>[links] Chiude l'arco aperto da S1-04. Non introduce ancora la differenza tra due container
avviati dalla stessa immagine che scrivono su filesystem distinti: quel dettaglio
appartiene alla prossima sequence (separazione dei filesystem).
</a:t>
            </a:r>
          </a:p>
          <a:p>
            <a:r>
              <a:rPr sz="1200" b="0" i="0">
                <a:solidFill>
                  <a:srgbClr val="1A1A1A"/>
                </a:solidFill>
                <a:latin typeface="Calibri"/>
              </a:rPr>
              <a:t>[watch_for] Un errore comune è pensare che due container dalla stessa immagine condividano lo stesso
filesystem in scrittura: la prossima sequence chiarisce che non è così. [inferred]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EQ_1 | timing_min: 10</a:t>
            </a:r>
          </a:p>
          <a:p>
            <a:r>
              <a:rPr sz="1200" b="0" i="0">
                <a:solidFill>
                  <a:srgbClr val="1A1A1A"/>
                </a:solidFill>
                <a:latin typeface="Calibri"/>
              </a:rPr>
              <a:t>[talk] Riprendi l'esempio di S1-08: se due container nati dalla stessa immagine scrivono un
file, lo scrivono ciascuno nel proprio filesystem, non in uno condiviso.
</a:t>
            </a:r>
          </a:p>
          <a:p>
            <a:r>
              <a:rPr sz="1200" b="0" i="0">
                <a:solidFill>
                  <a:srgbClr val="1A1A1A"/>
                </a:solidFill>
                <a:latin typeface="Calibri"/>
              </a:rPr>
              <a:t>[why_here] Conseguenza diretta dell'isolamento del container (edge PRQ-FILESYSTEM → PRQ-CONTAINER
in DESIGN): un container isolato ha, per definizione, un filesystem che non è quello
dell'host. [stated]
</a:t>
            </a:r>
          </a:p>
          <a:p>
            <a:r>
              <a:rPr sz="1200" b="0" i="0">
                <a:solidFill>
                  <a:srgbClr val="1A1A1A"/>
                </a:solidFill>
                <a:latin typeface="Calibri"/>
              </a:rPr>
              <a:t>[links] Si appoggia sul concetto informale di file e cartella già presunto come baseline
(BSL-PC-USE). Prepara la domanda posta nella slide successiva.
</a:t>
            </a:r>
          </a:p>
          <a:p>
            <a:r>
              <a:rPr sz="1200" b="0" i="0">
                <a:solidFill>
                  <a:srgbClr val="1A1A1A"/>
                </a:solidFill>
                <a:latin typeface="Calibri"/>
              </a:rPr>
              <a:t>[watch_for] Studenti con poca dimestichezza con il concetto di file/cartella (BSL-PC-USE è
dichiarata "scarsa e traballante" per P-BASE) potrebbero faticare anche solo con l'idea
di "due filesystem": usa un esempio molto concreto, es. due cartelle sul desktop con lo
stesso nome ma contenuto diverso. [stated, da DESIGN/STUDENT_PERSONAS]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problem | goals: EQ_1 | timing_min: 5</a:t>
            </a:r>
          </a:p>
          <a:p>
            <a:r>
              <a:rPr sz="1200" b="0" i="0">
                <a:solidFill>
                  <a:srgbClr val="1A1A1A"/>
                </a:solidFill>
                <a:latin typeface="Calibri"/>
              </a:rPr>
              <a:t>[talk] Non dare la risposta: lascia la domanda esplicitamente aperta. È corretto che gli
studenti restino con questa curiosità fino a quando il corso non introduce lo strumento
che la risolve.
</a:t>
            </a:r>
          </a:p>
          <a:p>
            <a:r>
              <a:rPr sz="1200" b="0" i="0">
                <a:solidFill>
                  <a:srgbClr val="1A1A1A"/>
                </a:solidFill>
                <a:latin typeface="Calibri"/>
              </a:rPr>
              <a:t>[why_here] È l'Essential Question EQ_1 dichiarata in GOALS, e CURRICULUM annota esplicitamente che
questa lezione "apre la domanda EQ_1... a cui si risponderà più avanti nel corso".
[stated]
</a:t>
            </a:r>
          </a:p>
          <a:p>
            <a:r>
              <a:rPr sz="1200" b="0" i="0">
                <a:solidFill>
                  <a:srgbClr val="1A1A1A"/>
                </a:solidFill>
                <a:latin typeface="Calibri"/>
              </a:rPr>
              <a:t>[links] Rimando in avanti: la domanda viene ripresa nella sessione 4, dedicata alla persistenza
dei dati (vedi instructional_decisions per la scelta di non nominare qui il meccanismo
che la risolve).
</a:t>
            </a:r>
          </a:p>
          <a:p>
            <a:r>
              <a:rPr sz="1200" b="0" i="0">
                <a:solidFill>
                  <a:srgbClr val="1A1A1A"/>
                </a:solidFill>
                <a:latin typeface="Calibri"/>
              </a:rPr>
              <a:t>[watch_for] Alcuni studenti proveranno a indovinare la risposta (es. "si copia il file dentro"): è
positivo, accoglila come ipotesi da verificare più avanti, senza confermarla o smentirla
ora. [inferred]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GOAL_001_LIFECYCLE, GOAL_004_NETWORK | timing_min: 8</a:t>
            </a:r>
          </a:p>
          <a:p>
            <a:r>
              <a:rPr sz="1200" b="0" i="0">
                <a:solidFill>
                  <a:srgbClr val="1A1A1A"/>
                </a:solidFill>
                <a:latin typeface="Calibri"/>
              </a:rPr>
              <a:t>[talk] Prima occorrenza degli acronimi in questo documento, già glossati sullo schermo: stdin
(standard input, canale di ingresso standard), stdout (standard output, canale di uscita
standard), stderr (standard error, canale di errore standard). Da qui in poi puoi usarli
liberamente, sia tu che gli studenti.
</a:t>
            </a:r>
          </a:p>
          <a:p>
            <a:r>
              <a:rPr sz="1200" b="0" i="0">
                <a:solidFill>
                  <a:srgbClr val="1A1A1A"/>
                </a:solidFill>
                <a:latin typeface="Calibri"/>
              </a:rPr>
              <a:t>[why_here] LOGISTICS dichiara questo contenuto non assunto come prerequisito e da insegnare
esplicitamente, propedeutico a GOAL_004 (edge DR-NETWORK → PRQ-PROCESS-MODEL in DESIGN:
la comunicazione tra container si appoggia sull'idea di processo in ascolto su un
canale di I/O standard). [stated] Il collegamento aggiuntivo a GOAL_001 (ciclo di vita
del container, interpretare `docker logs`/`exec`) è un giudizio ulteriore
dell'architetto del grafo DESIGN, non dichiarato esplicitamente in GOALS. [inferred, da
DESIGN - nota sul nodo PRQ-PROCESS-MODEL]
</a:t>
            </a:r>
          </a:p>
          <a:p>
            <a:r>
              <a:rPr sz="1200" b="0" i="0">
                <a:solidFill>
                  <a:srgbClr val="1A1A1A"/>
                </a:solidFill>
                <a:latin typeface="Calibri"/>
              </a:rPr>
              <a:t>[links] Si appoggia sull'uso di base del PC (BSL-PC-USE) e sulla shell (BSL-SHELL) già presunti
come baseline. Prepara direttamente PRQ-CLI-BASICS (sessione 2): capire `docker logs`
richiede di sapere cos'è lo standard output.
</a:t>
            </a:r>
          </a:p>
          <a:p>
            <a:r>
              <a:rPr sz="1200" b="0" i="0">
                <a:solidFill>
                  <a:srgbClr val="1A1A1A"/>
                </a:solidFill>
                <a:latin typeface="Calibri"/>
              </a:rPr>
              <a:t>[watch_for] LOGISTICS segnala questo come storicamente un punto critico per questa tipologia di
studenti [risk]: non dare per scontato che "input" e "output" siano concetti già
interiorizzati, anche se il termine suona familiare.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GOAL_001_LIFECYCLE | timing_min: 5</a:t>
            </a:r>
          </a:p>
          <a:p>
            <a:r>
              <a:rPr sz="1200" b="0" i="0">
                <a:solidFill>
                  <a:srgbClr val="1A1A1A"/>
                </a:solidFill>
                <a:latin typeface="Calibri"/>
              </a:rPr>
              <a:t>[talk] Collega il termine tty all'esperienza già fatta dagli studenti: la finestra di terminale
usata per la shell (BSL-SHELL) è, tecnicamente, l'erede moderno di quello che un tempo
era un dispositivo fisico (il teletypewriter da cui viene il nome).
</a:t>
            </a:r>
          </a:p>
          <a:p>
            <a:r>
              <a:rPr sz="1200" b="0" i="0">
                <a:solidFill>
                  <a:srgbClr val="1A1A1A"/>
                </a:solidFill>
                <a:latin typeface="Calibri"/>
              </a:rPr>
              <a:t>[why_here] Completa il quadro dei tre canali standard (S1-11) collegandoli al terminale come
interfaccia con cui lo studente interagisce concretamente. [stated, da DESIGN]
</a:t>
            </a:r>
          </a:p>
          <a:p>
            <a:r>
              <a:rPr sz="1200" b="0" i="0">
                <a:solidFill>
                  <a:srgbClr val="1A1A1A"/>
                </a:solidFill>
                <a:latin typeface="Calibri"/>
              </a:rPr>
              <a:t>[links] Si appoggia su BSL-SHELL (comandi di base già usati dagli studenti). Prepara PRQ-CLI-BASICS
(sessione 2), dove il terminale è lo strumento con cui si eseguono i comandi Docker.
</a:t>
            </a:r>
          </a:p>
          <a:p>
            <a:r>
              <a:rPr sz="1200" b="0" i="0">
                <a:solidFill>
                  <a:srgbClr val="1A1A1A"/>
                </a:solidFill>
                <a:latin typeface="Calibri"/>
              </a:rPr>
              <a:t>[watch_for] Non confondere "terminale" (l'interfaccia) con "shell" (il programma che la interpreta):
la distinzione non è centrale per questo corso, ma un accenno evita confusione quando si
userà la shell nella sessione 2. [inferred]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GOAL_004_NETWORK | timing_min: 6</a:t>
            </a:r>
          </a:p>
          <a:p>
            <a:r>
              <a:rPr sz="1200" b="0" i="0">
                <a:solidFill>
                  <a:srgbClr val="1A1A1A"/>
                </a:solidFill>
                <a:latin typeface="Calibri"/>
              </a:rPr>
              <a:t>[talk] Se il tempo lo consente, un solo esempio di comando con pipe basta (es. filtrare l'output
di un comando con un altro): l'obiettivo non è insegnare a padroneggiare le pipe, ma far
riconoscere il concetto quando riappare più avanti.
</a:t>
            </a:r>
          </a:p>
          <a:p>
            <a:r>
              <a:rPr sz="1200" b="0" i="0">
                <a:solidFill>
                  <a:srgbClr val="1A1A1A"/>
                </a:solidFill>
                <a:latin typeface="Calibri"/>
              </a:rPr>
              <a:t>[why_here] Parte del modello dei processi dichiarato da LOGISTICS come da insegnare esplicitamente.
[stated] Il collegamento a GOAL_004 (rete tra container) qui è un'estensione della
stessa forma concettuale vista in S1-11 (output di un processo che diventa input di un
altro): è la stessa idea, applicata più avanti a due container invece che a due comandi
nella stessa shell. Collegamento giudicato dall'autore di questo deck, non dichiarato
esplicitamente in DESIGN per la pipe in sé. [inferred]
</a:t>
            </a:r>
          </a:p>
          <a:p>
            <a:r>
              <a:rPr sz="1200" b="0" i="0">
                <a:solidFill>
                  <a:srgbClr val="1A1A1A"/>
                </a:solidFill>
                <a:latin typeface="Calibri"/>
              </a:rPr>
              <a:t>[links] Prepara concettualmente sequenze future su rete (sessione 3) e porte (sessione 4), senza
anticiparne il contenuto: qui resta un concetto generico di sistema operativo.
</a:t>
            </a:r>
          </a:p>
          <a:p>
            <a:r>
              <a:rPr sz="1200" b="0" i="0">
                <a:solidFill>
                  <a:srgbClr val="1A1A1A"/>
                </a:solidFill>
                <a:latin typeface="Calibri"/>
              </a:rPr>
              <a:t>[watch_for] Evita di introdurre qui la sintassi esatta del carattere pipe o esempi di comandi Linux
complessi: rischia di distogliere dal collegamento concettuale che questa slide deve
preparare (processo che comunica con un altro processo). [inferred]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GOAL_008_TROUBLESHOOTING | timing_min: 6</a:t>
            </a:r>
          </a:p>
          <a:p>
            <a:r>
              <a:rPr sz="1200" b="0" i="0">
                <a:solidFill>
                  <a:srgbClr val="1A1A1A"/>
                </a:solidFill>
                <a:latin typeface="Calibri"/>
              </a:rPr>
              <a:t>[talk] Collega esplicitamente questo concetto al comando `docker stop` mostrato nella demo di
questa stessa sessione (S1-06): fermare un container vuol dire inviare un segnale al suo
processo principale, non "spegnere una macchina virtuale".
</a:t>
            </a:r>
          </a:p>
          <a:p>
            <a:r>
              <a:rPr sz="1200" b="0" i="0">
                <a:solidFill>
                  <a:srgbClr val="1A1A1A"/>
                </a:solidFill>
                <a:latin typeface="Calibri"/>
              </a:rPr>
              <a:t>[why_here] Ultimo tassello del modello dei processi, dichiarato da LOGISTICS come da insegnare
esplicitamente per questa cohort. [stated] CURRICULUM annota questo contenuto come
"propedeutico a PRQ-CLI-BASICS, DR-NETWORK e DR-TROUBLESHOOTING".
</a:t>
            </a:r>
          </a:p>
          <a:p>
            <a:r>
              <a:rPr sz="1200" b="0" i="0">
                <a:solidFill>
                  <a:srgbClr val="1A1A1A"/>
                </a:solidFill>
                <a:latin typeface="Calibri"/>
              </a:rPr>
              <a:t>[links] Richiama S1-06 (`docker stop` mostrato nella demo). Prepara PRQ-CLI-BASICS (sessione 2,
dove si eseguirà davvero `docker stop`) e, più avanti, la sessione dedicata alla diagnosi
dei malfunzionamenti — senza anticiparne il contenuto.
</a:t>
            </a:r>
          </a:p>
          <a:p>
            <a:r>
              <a:rPr sz="1200" b="0" i="0">
                <a:solidFill>
                  <a:srgbClr val="1A1A1A"/>
                </a:solidFill>
                <a:latin typeface="Calibri"/>
              </a:rPr>
              <a:t>[watch_for] Non serve insegnare la lista dei segnali POSIX: un solo esempio (il segnale che ferma un
processo) basta per questa sessione, il dettaglio non è nel grafo DESIGN di questo corso.
[inferred]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11094415" cy="1097280"/>
          </a:xfrm>
          <a:prstGeom prst="rect">
            <a:avLst/>
          </a:prstGeom>
          <a:noFill/>
        </p:spPr>
        <p:txBody>
          <a:bodyPr wrap="square">
            <a:spAutoFit/>
          </a:bodyPr>
          <a:lstStyle/>
          <a:p>
            <a:pPr algn="ctr"/>
            <a:r>
              <a:rPr sz="4000" b="1" i="0">
                <a:solidFill>
                  <a:srgbClr val="1A1A1A"/>
                </a:solidFill>
                <a:latin typeface="Calibri"/>
              </a:rPr>
              <a:t>Perché Docker: container, immagini e processi</a:t>
            </a:r>
          </a:p>
        </p:txBody>
      </p:sp>
      <p:sp>
        <p:nvSpPr>
          <p:cNvPr id="3" name="TextBox 2"/>
          <p:cNvSpPr txBox="1"/>
          <p:nvPr/>
        </p:nvSpPr>
        <p:spPr>
          <a:xfrm>
            <a:off x="548640" y="3383280"/>
            <a:ext cx="11094415" cy="731520"/>
          </a:xfrm>
          <a:prstGeom prst="rect">
            <a:avLst/>
          </a:prstGeom>
          <a:noFill/>
        </p:spPr>
        <p:txBody>
          <a:bodyPr wrap="square">
            <a:spAutoFit/>
          </a:bodyPr>
          <a:lstStyle/>
          <a:p>
            <a:pPr algn="ctr"/>
            <a:r>
              <a:rPr sz="2200" b="0" i="1">
                <a:solidFill>
                  <a:srgbClr val="5A5A5A"/>
                </a:solidFill>
                <a:latin typeface="Calibri"/>
              </a:rPr>
              <a:t>Dal problema della riproducibilità al modello dei processi</a:t>
            </a:r>
          </a:p>
        </p:txBody>
      </p:sp>
      <p:sp>
        <p:nvSpPr>
          <p:cNvPr id="4" name="TextBox 3"/>
          <p:cNvSpPr txBox="1"/>
          <p:nvPr/>
        </p:nvSpPr>
        <p:spPr>
          <a:xfrm>
            <a:off x="548640" y="4206240"/>
            <a:ext cx="11094415" cy="548640"/>
          </a:xfrm>
          <a:prstGeom prst="rect">
            <a:avLst/>
          </a:prstGeom>
          <a:noFill/>
        </p:spPr>
        <p:txBody>
          <a:bodyPr wrap="square">
            <a:spAutoFit/>
          </a:bodyPr>
          <a:lstStyle/>
          <a:p>
            <a:pPr algn="ctr"/>
            <a:r>
              <a:rPr sz="1600" b="0" i="0">
                <a:solidFill>
                  <a:srgbClr val="5A5A5A"/>
                </a:solidFill>
                <a:latin typeface="Calibri"/>
              </a:rPr>
              <a:t>Docker: dai container ai sistemi multi-servizio (corso ITS, primo anno) — Sessione 1</a:t>
            </a:r>
          </a:p>
        </p:txBody>
      </p:sp>
      <p:sp>
        <p:nvSpPr>
          <p:cNvPr id="5" name="TextBox 4"/>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Il problema della riproducibilità</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Un'applicazione che gira sul tuo laptop può non girare su un altro computer.</a:t>
            </a:r>
          </a:p>
        </p:txBody>
      </p:sp>
      <p:sp>
        <p:nvSpPr>
          <p:cNvPr id="3" name="TextBox 2"/>
          <p:cNvSpPr txBox="1"/>
          <p:nvPr/>
        </p:nvSpPr>
        <p:spPr>
          <a:xfrm>
            <a:off x="548640" y="1463040"/>
            <a:ext cx="11094415" cy="4937760"/>
          </a:xfrm>
          <a:prstGeom prst="rect">
            <a:avLst/>
          </a:prstGeom>
          <a:noFill/>
        </p:spPr>
        <p:txBody>
          <a:bodyPr wrap="square">
            <a:spAutoFit/>
          </a:bodyPr>
          <a:lstStyle/>
          <a:p>
            <a:pPr algn="ctr"/>
            <a:r>
              <a:rPr sz="2800" b="0" i="1">
                <a:solidFill>
                  <a:srgbClr val="1A1A1A"/>
                </a:solidFill>
                <a:latin typeface="Calibri"/>
              </a:rPr>
              <a:t>“"Funziona sul mio computer" — e sull'altro?”</a:t>
            </a:r>
          </a:p>
        </p:txBody>
      </p:sp>
      <p:sp>
        <p:nvSpPr>
          <p:cNvPr id="4" name="TextBox 3"/>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Docker esegue un'applicazione insieme alle sue dipendenze in modo isolato e riproducibile, e non è una macchina virtuale.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2.png"/>
          <p:cNvPicPr>
            <a:picLocks noChangeAspect="1"/>
          </p:cNvPicPr>
          <p:nvPr/>
        </p:nvPicPr>
        <p:blipFill>
          <a:blip r:embed="rId2"/>
          <a:stretch>
            <a:fillRect/>
          </a:stretch>
        </p:blipFill>
        <p:spPr>
          <a:xfrm>
            <a:off x="3380717" y="1463040"/>
            <a:ext cx="5430260" cy="384048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Stesso pacchetto, macchine diverse</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Il concetto di isolamento</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programma isolato gira per conto suo, senza interferire con gli altri programmi della stessa macchina.</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3.png"/>
          <p:cNvPicPr>
            <a:picLocks noChangeAspect="1"/>
          </p:cNvPicPr>
          <p:nvPr/>
        </p:nvPicPr>
        <p:blipFill>
          <a:blip r:embed="rId2"/>
          <a:stretch>
            <a:fillRect/>
          </a:stretch>
        </p:blipFill>
        <p:spPr>
          <a:xfrm>
            <a:off x="4175607" y="1463040"/>
            <a:ext cx="3840480" cy="384048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Programmi sulla stessa macchina, isolati tra loro</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Cos'è un container, e come lo si vede in azione</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container è un processo isolato, con il proprio filesystem, creato a partire da un'immagine.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4.png"/>
          <p:cNvPicPr>
            <a:picLocks noChangeAspect="1"/>
          </p:cNvPicPr>
          <p:nvPr/>
        </p:nvPicPr>
        <p:blipFill>
          <a:blip r:embed="rId2"/>
          <a:stretch>
            <a:fillRect/>
          </a:stretch>
        </p:blipFill>
        <p:spPr>
          <a:xfrm>
            <a:off x="548640" y="2086630"/>
            <a:ext cx="11094415" cy="259330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Un container sull'host</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container non è una macchina virtuale: non virtualizza un intero sistema operativo, condivide il kernel dell'host.</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5.png"/>
          <p:cNvPicPr>
            <a:picLocks noChangeAspect="1"/>
          </p:cNvPicPr>
          <p:nvPr/>
        </p:nvPicPr>
        <p:blipFill>
          <a:blip r:embed="rId2"/>
          <a:stretch>
            <a:fillRect/>
          </a:stretch>
        </p:blipFill>
        <p:spPr>
          <a:xfrm>
            <a:off x="548640" y="2548369"/>
            <a:ext cx="11094415" cy="1669822"/>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Due modelli a confronto</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Tre comandi bastano per avviare, elencare e fermare un container.</a:t>
            </a:r>
          </a:p>
        </p:txBody>
      </p:sp>
      <p:sp>
        <p:nvSpPr>
          <p:cNvPr id="3" name="TextBox 2"/>
          <p:cNvSpPr txBox="1"/>
          <p:nvPr/>
        </p:nvSpPr>
        <p:spPr>
          <a:xfrm>
            <a:off x="548640" y="1463040"/>
            <a:ext cx="11094415" cy="4937760"/>
          </a:xfrm>
          <a:prstGeom prst="rect">
            <a:avLst/>
          </a:prstGeom>
          <a:noFill/>
        </p:spPr>
        <p:txBody>
          <a:bodyPr wrap="square">
            <a:spAutoFit/>
          </a:bodyPr>
          <a:lstStyle/>
          <a:p>
            <a:r>
              <a:rPr sz="1600" b="0" i="1">
                <a:solidFill>
                  <a:srgbClr val="5A5A5A"/>
                </a:solidFill>
                <a:latin typeface="Calibri"/>
              </a:rPr>
              <a:t>Sequenza mostrata dal docente dal vivo</a:t>
            </a:r>
          </a:p>
          <a:p>
            <a:r>
              <a:rPr sz="1600" b="0" i="0">
                <a:solidFill>
                  <a:srgbClr val="1A1A1A"/>
                </a:solidFill>
                <a:latin typeface="Consolas"/>
              </a:rPr>
              <a:t>docker run -d --name web nginx</a:t>
            </a:r>
          </a:p>
          <a:p>
            <a:r>
              <a:rPr sz="1600" b="0" i="0">
                <a:solidFill>
                  <a:srgbClr val="1A1A1A"/>
                </a:solidFill>
                <a:latin typeface="Consolas"/>
              </a:rPr>
              <a:t>docker ps</a:t>
            </a:r>
          </a:p>
          <a:p>
            <a:r>
              <a:rPr sz="1600" b="0" i="0">
                <a:solidFill>
                  <a:srgbClr val="1A1A1A"/>
                </a:solidFill>
                <a:latin typeface="Consolas"/>
              </a:rPr>
              <a:t>docker stop web</a:t>
            </a:r>
          </a:p>
        </p:txBody>
      </p:sp>
      <p:sp>
        <p:nvSpPr>
          <p:cNvPr id="4" name="TextBox 3"/>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Cos'è un'immagine Docker</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Un'immagine Docker è un artefatto che si crea, si versiona e si distribuisce.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7.png"/>
          <p:cNvPicPr>
            <a:picLocks noChangeAspect="1"/>
          </p:cNvPicPr>
          <p:nvPr/>
        </p:nvPicPr>
        <p:blipFill>
          <a:blip r:embed="rId2"/>
          <a:stretch>
            <a:fillRect/>
          </a:stretch>
        </p:blipFill>
        <p:spPr>
          <a:xfrm>
            <a:off x="548640" y="2942740"/>
            <a:ext cx="11094415" cy="881079"/>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Dal sorgente a un'altra macchina</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Un'immagine è il modello da cui nascono uno o più container.</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8.png"/>
          <p:cNvPicPr>
            <a:picLocks noChangeAspect="1"/>
          </p:cNvPicPr>
          <p:nvPr/>
        </p:nvPicPr>
        <p:blipFill>
          <a:blip r:embed="rId2"/>
          <a:stretch>
            <a:fillRect/>
          </a:stretch>
        </p:blipFill>
        <p:spPr>
          <a:xfrm>
            <a:off x="2933547" y="1706880"/>
            <a:ext cx="6324600" cy="335280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Da un'immagine a più container</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Filesystem dell'host e filesystem del container</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Il filesystem del container è separato da quello dell'host: i file dell'uno non sono visibili nell'altro.</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09.png"/>
          <p:cNvPicPr>
            <a:picLocks noChangeAspect="1"/>
          </p:cNvPicPr>
          <p:nvPr/>
        </p:nvPicPr>
        <p:blipFill>
          <a:blip r:embed="rId2"/>
          <a:stretch>
            <a:fillRect/>
          </a:stretch>
        </p:blipFill>
        <p:spPr>
          <a:xfrm>
            <a:off x="4250100" y="1463040"/>
            <a:ext cx="3691495" cy="384048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Due filesystem separati</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Come si fa a far leggere o scrivere a un container un file che sta sul computer host?</a:t>
            </a:r>
          </a:p>
        </p:txBody>
      </p:sp>
      <p:sp>
        <p:nvSpPr>
          <p:cNvPr id="3" name="TextBox 2"/>
          <p:cNvSpPr txBox="1"/>
          <p:nvPr/>
        </p:nvSpPr>
        <p:spPr>
          <a:xfrm>
            <a:off x="548640" y="1463040"/>
            <a:ext cx="11094415" cy="4937760"/>
          </a:xfrm>
          <a:prstGeom prst="rect">
            <a:avLst/>
          </a:prstGeom>
          <a:noFill/>
        </p:spPr>
        <p:txBody>
          <a:bodyPr wrap="square">
            <a:spAutoFit/>
          </a:bodyPr>
          <a:lstStyle/>
          <a:p>
            <a:pPr algn="ctr"/>
            <a:r>
              <a:rPr sz="2800" b="0" i="1">
                <a:solidFill>
                  <a:srgbClr val="1A1A1A"/>
                </a:solidFill>
                <a:latin typeface="Calibri"/>
              </a:rPr>
              <a:t>“Domanda aperta: non risolta in questa sessione.”</a:t>
            </a:r>
          </a:p>
        </p:txBody>
      </p:sp>
      <p:sp>
        <p:nvSpPr>
          <p:cNvPr id="4" name="TextBox 3"/>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Il modello dei processi</a:t>
            </a:r>
          </a:p>
        </p:txBody>
      </p:sp>
      <p:sp>
        <p:nvSpPr>
          <p:cNvPr id="3" name="TextBox 2"/>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processo comunica con l'esterno tramite tre canali standard: input, output ed errore.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11.png"/>
          <p:cNvPicPr>
            <a:picLocks noChangeAspect="1"/>
          </p:cNvPicPr>
          <p:nvPr/>
        </p:nvPicPr>
        <p:blipFill>
          <a:blip r:embed="rId2"/>
          <a:stretch>
            <a:fillRect/>
          </a:stretch>
        </p:blipFill>
        <p:spPr>
          <a:xfrm>
            <a:off x="548640" y="2704030"/>
            <a:ext cx="11094415" cy="1358499"/>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I tre canali standard di un processo</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Il terminale (tty, dall'inglese «teletypewriter») permette di dare input a un processo e leggerne l'output in tempo reale.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12.png"/>
          <p:cNvPicPr>
            <a:picLocks noChangeAspect="1"/>
          </p:cNvPicPr>
          <p:nvPr/>
        </p:nvPicPr>
        <p:blipFill>
          <a:blip r:embed="rId2"/>
          <a:stretch>
            <a:fillRect/>
          </a:stretch>
        </p:blipFill>
        <p:spPr>
          <a:xfrm>
            <a:off x="2590647" y="2468880"/>
            <a:ext cx="7010400" cy="182880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Il terminale come ciclo interattivo</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Una pipe collega l'output di un processo all'input di un altro, componendo comandi in sequenza.</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13.png"/>
          <p:cNvPicPr>
            <a:picLocks noChangeAspect="1"/>
          </p:cNvPicPr>
          <p:nvPr/>
        </p:nvPicPr>
        <p:blipFill>
          <a:blip r:embed="rId2"/>
          <a:stretch>
            <a:fillRect/>
          </a:stretch>
        </p:blipFill>
        <p:spPr>
          <a:xfrm>
            <a:off x="2425547" y="2760980"/>
            <a:ext cx="7340600" cy="124460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Composizione di due comandi con una pipe</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segnale è un messaggio che il sistema operativo invia a un processo per chiedergli di fermarsi o reagire a un evento.</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1-14.png"/>
          <p:cNvPicPr>
            <a:picLocks noChangeAspect="1"/>
          </p:cNvPicPr>
          <p:nvPr/>
        </p:nvPicPr>
        <p:blipFill>
          <a:blip r:embed="rId2"/>
          <a:stretch>
            <a:fillRect/>
          </a:stretch>
        </p:blipFill>
        <p:spPr>
          <a:xfrm>
            <a:off x="548640" y="2966389"/>
            <a:ext cx="11094415" cy="833782"/>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Un segnale inviato a un processo</a:t>
            </a:r>
          </a:p>
        </p:txBody>
      </p:sp>
      <p:sp>
        <p:nvSpPr>
          <p:cNvPr id="6" name="TextBox 5"/>
          <p:cNvSpPr txBox="1"/>
          <p:nvPr/>
        </p:nvSpPr>
        <p:spPr>
          <a:xfrm>
            <a:off x="10180015" y="137160"/>
            <a:ext cx="1828800" cy="365760"/>
          </a:xfrm>
          <a:prstGeom prst="rect">
            <a:avLst/>
          </a:prstGeom>
          <a:noFill/>
        </p:spPr>
        <p:txBody>
          <a:bodyPr wrap="square">
            <a:spAutoFit/>
          </a:bodyPr>
          <a:lstStyle/>
          <a:p>
            <a:pPr algn="r"/>
            <a:r>
              <a:rPr sz="1400" b="1" i="0">
                <a:solidFill>
                  <a:srgbClr val="C01C1C"/>
                </a:solidFill>
                <a:latin typeface="Calibri"/>
              </a:rPr>
              <a:t>[DRAFT]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